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0" r:id="rId2"/>
  </p:sldMasterIdLst>
  <p:notesMasterIdLst>
    <p:notesMasterId r:id="rId53"/>
  </p:notesMasterIdLst>
  <p:sldIdLst>
    <p:sldId id="256" r:id="rId3"/>
    <p:sldId id="257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302" r:id="rId18"/>
    <p:sldId id="303" r:id="rId19"/>
    <p:sldId id="304" r:id="rId20"/>
    <p:sldId id="306" r:id="rId21"/>
    <p:sldId id="305" r:id="rId22"/>
    <p:sldId id="307" r:id="rId23"/>
    <p:sldId id="308" r:id="rId24"/>
    <p:sldId id="309" r:id="rId25"/>
    <p:sldId id="310" r:id="rId26"/>
    <p:sldId id="312" r:id="rId27"/>
    <p:sldId id="275" r:id="rId28"/>
    <p:sldId id="278" r:id="rId29"/>
    <p:sldId id="279" r:id="rId30"/>
    <p:sldId id="280" r:id="rId31"/>
    <p:sldId id="299" r:id="rId32"/>
    <p:sldId id="281" r:id="rId33"/>
    <p:sldId id="300" r:id="rId34"/>
    <p:sldId id="282" r:id="rId35"/>
    <p:sldId id="283" r:id="rId36"/>
    <p:sldId id="301" r:id="rId37"/>
    <p:sldId id="285" r:id="rId38"/>
    <p:sldId id="286" r:id="rId39"/>
    <p:sldId id="297" r:id="rId40"/>
    <p:sldId id="287" r:id="rId41"/>
    <p:sldId id="288" r:id="rId42"/>
    <p:sldId id="290" r:id="rId43"/>
    <p:sldId id="291" r:id="rId44"/>
    <p:sldId id="292" r:id="rId45"/>
    <p:sldId id="314" r:id="rId46"/>
    <p:sldId id="315" r:id="rId47"/>
    <p:sldId id="316" r:id="rId48"/>
    <p:sldId id="317" r:id="rId49"/>
    <p:sldId id="318" r:id="rId50"/>
    <p:sldId id="295" r:id="rId51"/>
    <p:sldId id="296" r:id="rId5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79752" autoAdjust="0"/>
  </p:normalViewPr>
  <p:slideViewPr>
    <p:cSldViewPr snapToGrid="0" snapToObjects="1">
      <p:cViewPr varScale="1">
        <p:scale>
          <a:sx n="119" d="100"/>
          <a:sy n="119" d="100"/>
        </p:scale>
        <p:origin x="840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theme" Target="theme/theme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tableStyles" Target="tableStyles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先看最终成绩。在 PrimeVul 数据集上——这是从真实开源项目中收集的 200 个代码片段，每个都标注了是否存在漏洞——我们的 F1 达到 0.77，Precision 0.78，Recall 0.75，误报率 0.21。</a:t>
            </a:r>
          </a:p>
          <a:p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解释一下 F1：它是精确率和召回率的调和平均，综合衡量"找到的漏洞里多少是真的"和"真的漏洞找到了多少"，0 最差 1 最好。Precision 精确率 0.78——我们说"有漏洞"的判断里，78% 是真的有漏洞。Recall 召回率 0.75——所有真实存在的漏洞，我们找到了 75%。FPR 误报率 0.21——我们把安全代码误判为漏洞的概率是 21%。就是说每看 100 个安全代码，平均有 21 个被冤枉了</a:t>
            </a:r>
          </a:p>
          <a:p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然后分层看：有 sink 的 19 个样本 F1 为 0.88，无 sink 的 181 个样本 F1 为 0.74。（PrimeVul 里 200 个样本可以分成两类：有sink与无sink。sink 就是危险函数——比如 strcpy 拷贝字符串可能溢出、system 执行系统命令可能被注入。代码里有这些函数的叫"有 sink"，没有的叫"无 sink"）无 sink 样本占 90.5%，是整体分数的绝对主力——说明成绩不是在少数简单样本上刷出来的。</a:t>
            </a:r>
          </a:p>
          <a:p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另外我们又在 BigVul 数据集上跑 200 样本，F1 为 0.67。BigVul 标签噪声率学术估计约 75%，这个分数可能已接近数据集的理论上限。后面局限性部分会详细说。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这张表汇总了所有数据。五个测试场景，全部是零样本。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这是我们最终做出来的系统界面。首页仪表板——左边能看到导航页，模型是否在线、最近的报告历史。右边是快捷操作：代码扫描、批量评测。我们不只是做了算法研究，还搭建了一个完整可用的平台。后面的截图会展示具体功能页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接下来回顾探索过程。Phase 1 是起点，当时的做法和最终版本差距很大，但从中得到的教训直接决定了后续方向。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最初的想法很直接：用 AI 看代码、判断漏洞。三个基础组件：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。。。。。。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后来支持了多种模型接入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。。。。。。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这是 LLM 配置页面，可切换不同模型提供商。后续我们从本地 8B 模型切换到云端 GLM-4.6V——因为本地模型对安全审计任务能力不足，单文件耗时 40~120 秒，判断质量也不理想。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在基础框架上我们又叠了四个优化层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。。。。。。。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Phase 1 教给我们四件事：不要堆砌优化层——每加一个组件都要验证其贡献；不要在测试集上写规则——这是数据泄漏；不要用静态分析做硬判决——应作为信号、最终判断权在 LLM；LLM 的目标是补偿盲区，而非重复静态工具的工作。</a:t>
            </a:r>
          </a:p>
          <a:p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以上是 Phase 1 的完整探索过程。这些教训直接决定了 Phase 2 和 Phase 3 的架构设计方向。接下来由组员介绍后续工作。谢谢。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总体介绍</a:t>
            </a:r>
            <a:r>
              <a:rPr lang="en-US" altLang="zh-CN" dirty="0"/>
              <a:t>v4</a:t>
            </a:r>
            <a:r>
              <a:rPr lang="zh-CN" altLang="en-US" dirty="0"/>
              <a:t>感知链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细说工具聚合层</a:t>
            </a:r>
            <a:endParaRPr lang="en-US" altLang="zh-CN" dirty="0"/>
          </a:p>
          <a:p>
            <a:r>
              <a:rPr lang="en-US" altLang="zh-CN" dirty="0"/>
              <a:t>  - </a:t>
            </a:r>
            <a:r>
              <a:rPr lang="en-US" altLang="zh-CN" dirty="0" err="1"/>
              <a:t>CodeSlicer</a:t>
            </a:r>
            <a:r>
              <a:rPr lang="zh-CN" altLang="en-US" dirty="0"/>
              <a:t>：</a:t>
            </a:r>
            <a:r>
              <a:rPr lang="en-US" altLang="zh-CN" dirty="0"/>
              <a:t>tree-sitter </a:t>
            </a:r>
            <a:r>
              <a:rPr lang="zh-CN" altLang="en-US" dirty="0"/>
              <a:t>生成 </a:t>
            </a:r>
            <a:r>
              <a:rPr lang="en-US" altLang="zh-CN" dirty="0"/>
              <a:t>AST → </a:t>
            </a:r>
            <a:r>
              <a:rPr lang="zh-CN" altLang="en-US" dirty="0"/>
              <a:t>遍历函数调用节点做 </a:t>
            </a:r>
            <a:r>
              <a:rPr lang="en-US" altLang="zh-CN" dirty="0"/>
              <a:t>sink </a:t>
            </a:r>
            <a:r>
              <a:rPr lang="zh-CN" altLang="en-US" dirty="0"/>
              <a:t>精确匹配 → 单函数内 </a:t>
            </a:r>
            <a:r>
              <a:rPr lang="en-US" altLang="zh-CN" dirty="0" err="1"/>
              <a:t>Source→Sink</a:t>
            </a:r>
            <a:r>
              <a:rPr lang="en-US" altLang="zh-CN" dirty="0"/>
              <a:t> </a:t>
            </a:r>
            <a:r>
              <a:rPr lang="zh-CN" altLang="en-US" dirty="0"/>
              <a:t>数据流追踪</a:t>
            </a:r>
          </a:p>
          <a:p>
            <a:r>
              <a:rPr lang="zh-CN" altLang="en-US" dirty="0"/>
              <a:t>  </a:t>
            </a:r>
            <a:r>
              <a:rPr lang="en-US" altLang="zh-CN" dirty="0"/>
              <a:t>- </a:t>
            </a:r>
            <a:r>
              <a:rPr lang="en-US" altLang="zh-CN" dirty="0" err="1"/>
              <a:t>CodeQL</a:t>
            </a:r>
            <a:r>
              <a:rPr lang="zh-CN" altLang="en-US" dirty="0"/>
              <a:t>：构建 </a:t>
            </a:r>
            <a:r>
              <a:rPr lang="en-US" altLang="zh-CN" dirty="0"/>
              <a:t>CFG + DFG → </a:t>
            </a:r>
            <a:r>
              <a:rPr lang="zh-CN" altLang="en-US" dirty="0"/>
              <a:t>查询语言做跨函数污点追踪（</a:t>
            </a:r>
            <a:r>
              <a:rPr lang="en-US" altLang="zh-CN" dirty="0"/>
              <a:t>taint tracking</a:t>
            </a:r>
            <a:r>
              <a:rPr lang="zh-CN" altLang="en-US" dirty="0"/>
              <a:t>）</a:t>
            </a:r>
          </a:p>
          <a:p>
            <a:r>
              <a:rPr lang="zh-CN" altLang="en-US" dirty="0"/>
              <a:t>  </a:t>
            </a:r>
            <a:r>
              <a:rPr lang="en-US" altLang="zh-CN" dirty="0"/>
              <a:t>- </a:t>
            </a:r>
            <a:r>
              <a:rPr lang="en-US" altLang="zh-CN" dirty="0" err="1"/>
              <a:t>Semgrep</a:t>
            </a:r>
            <a:r>
              <a:rPr lang="zh-CN" altLang="en-US" dirty="0"/>
              <a:t>：</a:t>
            </a:r>
            <a:r>
              <a:rPr lang="en-US" altLang="zh-CN" dirty="0"/>
              <a:t>AST </a:t>
            </a:r>
            <a:r>
              <a:rPr lang="zh-CN" altLang="en-US" dirty="0"/>
              <a:t>模式匹配，</a:t>
            </a:r>
            <a:r>
              <a:rPr lang="en-US" altLang="zh-CN" dirty="0"/>
              <a:t>YAML </a:t>
            </a:r>
            <a:r>
              <a:rPr lang="zh-CN" altLang="en-US" dirty="0"/>
              <a:t>规则驱动，无数据流无语义</a:t>
            </a:r>
            <a:endParaRPr lang="en-US" altLang="zh-CN" dirty="0"/>
          </a:p>
          <a:p>
            <a:r>
              <a:rPr lang="zh-CN" altLang="en-US" dirty="0"/>
              <a:t>共识分析原理是</a:t>
            </a:r>
            <a:r>
              <a:rPr lang="en-US" altLang="zh-CN" dirty="0"/>
              <a:t>type</a:t>
            </a:r>
            <a:r>
              <a:rPr lang="zh-CN" altLang="en-US" dirty="0"/>
              <a:t>重叠</a:t>
            </a:r>
            <a:endParaRPr lang="en-US" altLang="zh-CN" dirty="0"/>
          </a:p>
          <a:p>
            <a:r>
              <a:rPr lang="zh-CN" altLang="en-US" dirty="0"/>
              <a:t>盲区识别用于查表，提前记录了各个工具覆盖不到的点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细说</a:t>
            </a:r>
            <a:r>
              <a:rPr lang="en-US" altLang="zh-CN" dirty="0"/>
              <a:t>agent1</a:t>
            </a:r>
            <a:r>
              <a:rPr lang="zh-CN" altLang="en-US" dirty="0"/>
              <a:t>的内容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解释</a:t>
            </a:r>
            <a:r>
              <a:rPr lang="en-US" altLang="zh-CN" dirty="0"/>
              <a:t>a3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914400"/>
            <a:ext cx="7863840" cy="2011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基于大语言模型的</a:t>
            </a:r>
            <a:endParaRPr lang="en-US" sz="3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应用安全审计技术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40080" y="2834640"/>
            <a:ext cx="7315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980B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LLM-Driven Application Security Audit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3383280"/>
            <a:ext cx="914400" cy="32004"/>
          </a:xfrm>
          <a:prstGeom prst="rect">
            <a:avLst/>
          </a:prstGeom>
          <a:solidFill>
            <a:srgbClr val="E67E22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640080" y="3566160"/>
            <a:ext cx="7315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C9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零样本 · 无微调 · 静态分析 + LLM 多 Agent 协同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汇报提纲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640080" cy="32004"/>
          </a:xfrm>
          <a:prstGeom prst="rect">
            <a:avLst/>
          </a:prstGeom>
          <a:solidFill>
            <a:srgbClr val="2980B9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7863840" cy="3200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>
              <a:lnSpc>
                <a:spcPct val="125000"/>
              </a:lnSpc>
              <a:spcAft>
                <a:spcPts val="1200"/>
              </a:spcAft>
              <a:buSzPct val="100000"/>
            </a:pPr>
            <a:r>
              <a:rPr lang="en-US" sz="1400" dirty="0">
                <a:solidFill>
                  <a:srgbClr val="2980B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一、核心成绩与学术对比 — PrimeVul F1=0.77，零样本超越微调基线</a:t>
            </a:r>
            <a:endParaRPr lang="en-US" sz="1400" dirty="0"/>
          </a:p>
          <a:p>
            <a:pPr>
              <a:lnSpc>
                <a:spcPct val="125000"/>
              </a:lnSpc>
              <a:spcAft>
                <a:spcPts val="1200"/>
              </a:spcAft>
              <a:buSzPct val="100000"/>
            </a:pPr>
            <a:r>
              <a:rPr lang="en-US" sz="1400" dirty="0">
                <a:solidFill>
                  <a:srgbClr val="C0392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二、Phase 1：Sink 注册表过拟合与四个优化层的失效 — 从 0.9+ 假象到认识 LLM 角色</a:t>
            </a:r>
            <a:endParaRPr lang="en-US" sz="1400" dirty="0"/>
          </a:p>
          <a:p>
            <a:pPr>
              <a:lnSpc>
                <a:spcPct val="125000"/>
              </a:lnSpc>
              <a:spcAft>
                <a:spcPts val="1200"/>
              </a:spcAft>
              <a:buSzPct val="100000"/>
            </a:pPr>
            <a:r>
              <a:rPr lang="en-US" sz="1400" dirty="0">
                <a:solidFill>
                  <a:srgbClr val="E67E2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三、Phase 2：模块化 — LLM 层层杀 TP 与静态拦截问题</a:t>
            </a:r>
            <a:endParaRPr lang="en-US" sz="1400" dirty="0"/>
          </a:p>
          <a:p>
            <a:pPr>
              <a:lnSpc>
                <a:spcPct val="125000"/>
              </a:lnSpc>
              <a:spcAft>
                <a:spcPts val="1200"/>
              </a:spcAft>
              <a:buSzPct val="100000"/>
            </a:pPr>
            <a:r>
              <a:rPr lang="en-US" sz="1400" dirty="0">
                <a:solidFill>
                  <a:srgbClr val="27AE6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四、Phase 3：V4 三级 Agent + 工具感知链 — 架构重建的最终方案</a:t>
            </a:r>
            <a:endParaRPr lang="en-US" sz="1400" dirty="0"/>
          </a:p>
          <a:p>
            <a:pPr>
              <a:lnSpc>
                <a:spcPct val="125000"/>
              </a:lnSpc>
              <a:spcAft>
                <a:spcPts val="1200"/>
              </a:spcAft>
              <a:buSzPct val="100000"/>
            </a:pPr>
            <a:r>
              <a:rPr lang="en-US" sz="1400" dirty="0">
                <a:solidFill>
                  <a:srgbClr val="2980B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五、消融实验 — 控制变量法拆解每个组件的贡献</a:t>
            </a:r>
            <a:endParaRPr lang="en-US" sz="1400" dirty="0"/>
          </a:p>
          <a:p>
            <a:pPr>
              <a:lnSpc>
                <a:spcPct val="125000"/>
              </a:lnSpc>
              <a:spcAft>
                <a:spcPts val="1200"/>
              </a:spcAft>
              <a:buSzPct val="100000"/>
            </a:pPr>
            <a:r>
              <a:rPr lang="en-US" sz="1400" dirty="0" err="1">
                <a:solidFill>
                  <a:srgbClr val="6B7C9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六、局限性</a:t>
            </a:r>
            <a:r>
              <a:rPr lang="en-US" sz="1400" dirty="0">
                <a:solidFill>
                  <a:srgbClr val="6B7C9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— 哪些地方做得不够好，以及为什么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核心成绩：PrimeVul 200 样本分层测试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640080" cy="32004"/>
          </a:xfrm>
          <a:prstGeom prst="rect">
            <a:avLst/>
          </a:prstGeom>
          <a:solidFill>
            <a:srgbClr val="2980B9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17373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effectLst>
            <a:outerShdw blurRad="63500" dist="25400" dir="162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640080" y="1261872"/>
            <a:ext cx="1737360" cy="523037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980B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0.77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85800" y="1741932"/>
            <a:ext cx="164592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00" dirty="0">
                <a:solidFill>
                  <a:srgbClr val="6B7C9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F1 Score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560320" y="1188720"/>
            <a:ext cx="17373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effectLst>
            <a:outerShdw blurRad="63500" dist="25400" dir="162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2560320" y="1261872"/>
            <a:ext cx="1737360" cy="523037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7AE6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0.78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606040" y="1741932"/>
            <a:ext cx="164592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00" dirty="0">
                <a:solidFill>
                  <a:srgbClr val="6B7C9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Precision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480560" y="1188720"/>
            <a:ext cx="17373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effectLst>
            <a:outerShdw blurRad="63500" dist="25400" dir="162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4480560" y="1261872"/>
            <a:ext cx="1737360" cy="523037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67E2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0.75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526280" y="1741932"/>
            <a:ext cx="164592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00" dirty="0">
                <a:solidFill>
                  <a:srgbClr val="6B7C9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Recall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400800" y="1188720"/>
            <a:ext cx="17373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effectLst>
            <a:outerShdw blurRad="63500" dist="25400" dir="162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6400800" y="1261872"/>
            <a:ext cx="1737360" cy="523037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0392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0.21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446520" y="1741932"/>
            <a:ext cx="164592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00" dirty="0">
                <a:solidFill>
                  <a:srgbClr val="6B7C9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误报率 FPR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40080" y="2331720"/>
            <a:ext cx="78638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C9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零样本、纯代码输入条件  |  ROC-AUC = 0.8356  |  PR-AUC = 0.7515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" y="2788920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PrimeVul 细分结果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" y="3063240"/>
            <a:ext cx="3657600" cy="1371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>
              <a:lnSpc>
                <a:spcPct val="125000"/>
              </a:lnSpc>
              <a:spcAft>
                <a:spcPts val="400"/>
              </a:spcAft>
              <a:buSzPct val="100000"/>
            </a:pPr>
            <a:r>
              <a:rPr lang="en-US" sz="10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有 Sink 样本（19个）：F1=0.88, P=0.90, R=0.85</a:t>
            </a:r>
            <a:endParaRPr lang="en-US" sz="1000" dirty="0"/>
          </a:p>
          <a:p>
            <a:pPr>
              <a:lnSpc>
                <a:spcPct val="125000"/>
              </a:lnSpc>
              <a:spcAft>
                <a:spcPts val="400"/>
              </a:spcAft>
              <a:buSzPct val="100000"/>
            </a:pPr>
            <a:r>
              <a:rPr lang="en-US" sz="10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无 Sink 样本（181个）：F1=0.74, P=0.76, R=0.73</a:t>
            </a:r>
            <a:endParaRPr lang="en-US" sz="1000" dirty="0"/>
          </a:p>
          <a:p>
            <a:pPr>
              <a:lnSpc>
                <a:spcPct val="125000"/>
              </a:lnSpc>
              <a:spcAft>
                <a:spcPts val="400"/>
              </a:spcAft>
              <a:buSzPct val="100000"/>
            </a:pPr>
            <a:r>
              <a:rPr lang="en-US" sz="10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有 Sink 子集仅占 9.5%，但高精度验证了激进策略有效</a:t>
            </a:r>
            <a:endParaRPr lang="en-US" sz="1000" dirty="0"/>
          </a:p>
          <a:p>
            <a:pPr>
              <a:lnSpc>
                <a:spcPct val="125000"/>
              </a:lnSpc>
              <a:spcAft>
                <a:spcPts val="400"/>
              </a:spcAft>
              <a:buSzPct val="100000"/>
            </a:pPr>
            <a:r>
              <a:rPr lang="en-US" sz="10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无 Sink 子集占 90.5%，是整体性能的主要驱动因素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754880" y="2788920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BigVul Clean 数据集（200 样本）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754880" y="3063240"/>
            <a:ext cx="3657600" cy="1371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>
              <a:lnSpc>
                <a:spcPct val="125000"/>
              </a:lnSpc>
              <a:spcAft>
                <a:spcPts val="400"/>
              </a:spcAft>
              <a:buSzPct val="100000"/>
            </a:pPr>
            <a:r>
              <a:rPr lang="en-US" sz="10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F1 = 0.67, Precision = 0.62, Recall = 0.74</a:t>
            </a:r>
            <a:endParaRPr lang="en-US" sz="1000" dirty="0"/>
          </a:p>
          <a:p>
            <a:pPr>
              <a:lnSpc>
                <a:spcPct val="125000"/>
              </a:lnSpc>
              <a:spcAft>
                <a:spcPts val="400"/>
              </a:spcAft>
              <a:buSzPct val="100000"/>
            </a:pPr>
            <a:r>
              <a:rPr lang="en-US" sz="10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标签噪声率学术界估计约 75%</a:t>
            </a:r>
            <a:endParaRPr lang="en-US" sz="1000" dirty="0"/>
          </a:p>
          <a:p>
            <a:pPr>
              <a:lnSpc>
                <a:spcPct val="125000"/>
              </a:lnSpc>
              <a:spcAft>
                <a:spcPts val="400"/>
              </a:spcAft>
              <a:buSzPct val="100000"/>
            </a:pPr>
            <a:r>
              <a:rPr lang="en-US" sz="10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F1=0.67 可能已接近数据集的理论上限</a:t>
            </a:r>
            <a:endParaRPr lang="en-US" sz="1000" dirty="0"/>
          </a:p>
          <a:p>
            <a:pPr>
              <a:lnSpc>
                <a:spcPct val="125000"/>
              </a:lnSpc>
              <a:spcAft>
                <a:spcPts val="400"/>
              </a:spcAft>
              <a:buSzPct val="100000"/>
            </a:pPr>
            <a:r>
              <a:rPr lang="en-US" sz="10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如果 3/4 标签是错的，再好的模型也难以突破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核心成绩汇总：三个数据集交叉验证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640080" cy="32004"/>
          </a:xfrm>
          <a:prstGeom prst="rect">
            <a:avLst/>
          </a:prstGeom>
          <a:solidFill>
            <a:srgbClr val="2980B9"/>
          </a:solidFill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6" name="Table 0"/>
          <p:cNvGraphicFramePr>
            <a:graphicFrameLocks noGrp="1"/>
          </p:cNvGraphicFramePr>
          <p:nvPr/>
        </p:nvGraphicFramePr>
        <p:xfrm>
          <a:off x="640080" y="930303"/>
          <a:ext cx="7863840" cy="1993392"/>
        </p:xfrm>
        <a:graphic>
          <a:graphicData uri="http://schemas.openxmlformats.org/drawingml/2006/table">
            <a:tbl>
              <a:tblPr/>
              <a:tblGrid>
                <a:gridCol w="1310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0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10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10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10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106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数据集</a:t>
                      </a:r>
                      <a:endParaRPr lang="en-US" sz="9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样本</a:t>
                      </a:r>
                      <a:endParaRPr lang="en-US" sz="9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F1</a:t>
                      </a:r>
                      <a:endParaRPr lang="en-US" sz="9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Precision</a:t>
                      </a:r>
                      <a:endParaRPr lang="en-US" sz="9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Recall</a:t>
                      </a:r>
                      <a:endParaRPr lang="en-US" sz="9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关键特征</a:t>
                      </a:r>
                      <a:endParaRPr lang="en-US" sz="9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5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PrimeVul（全部）</a:t>
                      </a:r>
                      <a:endParaRPr lang="en-US" sz="9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980B9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200</a:t>
                      </a:r>
                      <a:endParaRPr lang="en-US" sz="9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0.77</a:t>
                      </a:r>
                      <a:endParaRPr lang="en-US" sz="9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0.78</a:t>
                      </a:r>
                      <a:endParaRPr lang="en-US" sz="9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0.75</a:t>
                      </a:r>
                      <a:endParaRPr lang="en-US" sz="9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零样本，分层测试</a:t>
                      </a:r>
                      <a:endParaRPr lang="en-US" sz="9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PrimeVul（有 Sink）</a:t>
                      </a:r>
                      <a:endParaRPr lang="en-US" sz="9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980B9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19</a:t>
                      </a:r>
                      <a:endParaRPr lang="en-US" sz="9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0.88</a:t>
                      </a:r>
                      <a:endParaRPr lang="en-US" sz="9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0.90</a:t>
                      </a:r>
                      <a:endParaRPr lang="en-US" sz="9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0.85</a:t>
                      </a:r>
                      <a:endParaRPr lang="en-US" sz="9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激进验证策略最有效场景</a:t>
                      </a:r>
                      <a:endParaRPr lang="en-US" sz="9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PrimeVul（无 Sink）</a:t>
                      </a:r>
                      <a:endParaRPr lang="en-US" sz="9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980B9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181</a:t>
                      </a:r>
                      <a:endParaRPr lang="en-US" sz="9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0.74</a:t>
                      </a:r>
                      <a:endParaRPr lang="en-US" sz="9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0.76</a:t>
                      </a:r>
                      <a:endParaRPr lang="en-US" sz="9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0.73</a:t>
                      </a:r>
                      <a:endParaRPr lang="en-US" sz="9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Checklist 六类审计驱动</a:t>
                      </a:r>
                      <a:endParaRPr lang="en-US" sz="9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BigVul Clean</a:t>
                      </a:r>
                      <a:endParaRPr lang="en-US" sz="9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980B9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200</a:t>
                      </a:r>
                      <a:endParaRPr lang="en-US" sz="9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0.67</a:t>
                      </a:r>
                      <a:endParaRPr lang="en-US" sz="9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0.62</a:t>
                      </a:r>
                      <a:endParaRPr lang="en-US" sz="9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0.74</a:t>
                      </a:r>
                      <a:endParaRPr lang="en-US" sz="9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标签噪声~75%，可能接近理论上限</a:t>
                      </a:r>
                      <a:endParaRPr lang="en-US" sz="9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Juliet（跨数据集验证）</a:t>
                      </a:r>
                      <a:endParaRPr lang="en-US" sz="9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980B9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30</a:t>
                      </a:r>
                      <a:endParaRPr lang="en-US" sz="9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0.68</a:t>
                      </a:r>
                      <a:endParaRPr lang="en-US" sz="9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—</a:t>
                      </a:r>
                      <a:endParaRPr lang="en-US" sz="9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—</a:t>
                      </a:r>
                      <a:endParaRPr lang="en-US" sz="9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证明架构有跨数据集泛化能力</a:t>
                      </a:r>
                      <a:endParaRPr lang="en-US" sz="9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2939598"/>
            <a:ext cx="7863840" cy="2203902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zh-CN" altLang="zh-CN" sz="1600" dirty="0"/>
              <a:t>PrimeVul 全部 200 个样本 F1 0.77。</a:t>
            </a:r>
            <a:endParaRPr lang="en-US" altLang="zh-CN" sz="1600" dirty="0"/>
          </a:p>
          <a:p>
            <a:r>
              <a:rPr lang="zh-CN" altLang="zh-CN" sz="1600" dirty="0"/>
              <a:t>PrimeVul 有 sink 子集 19 个样本 F1 0.88——这是表现最好的场景，因为危险函数明确告诉了模型"这里很可能有问题"。</a:t>
            </a:r>
            <a:endParaRPr lang="en-US" altLang="zh-CN" sz="1600" dirty="0"/>
          </a:p>
          <a:p>
            <a:r>
              <a:rPr lang="zh-CN" altLang="zh-CN" sz="1600" dirty="0"/>
              <a:t>PrimeVul 无 sink 子集 181 个样本 F1 0.74——说明即使没有明确的危险函数提示，模型仍然能靠结构化的 checklist 方法找到问题。</a:t>
            </a:r>
          </a:p>
          <a:p>
            <a:r>
              <a:rPr lang="zh-CN" altLang="zh-CN" sz="1600" dirty="0"/>
              <a:t>BigVul 200 样本 F1 0.67——</a:t>
            </a:r>
            <a:r>
              <a:rPr lang="zh-CN" altLang="en-US" sz="1600" dirty="0"/>
              <a:t>由于</a:t>
            </a:r>
            <a:r>
              <a:rPr lang="zh-CN" altLang="zh-CN" sz="1600" dirty="0"/>
              <a:t>标签噪声有 75%，分数可能已经碰顶。</a:t>
            </a:r>
            <a:endParaRPr lang="en-US" altLang="zh-CN" sz="1600" dirty="0"/>
          </a:p>
          <a:p>
            <a:r>
              <a:rPr lang="zh-CN" altLang="zh-CN" sz="1600" dirty="0"/>
              <a:t>Juliet 30 样本 F1 0.68——Juliet 是一个合成的测试集，代码风格和我们主测试集不一样，F1 0.68 说明我们的方案不是只在一种数据上好用，有跨数据集的泛化能力。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平台概览：系统首页仪表板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640080" cy="32004"/>
          </a:xfrm>
          <a:prstGeom prst="rect">
            <a:avLst/>
          </a:prstGeom>
          <a:solidFill>
            <a:srgbClr val="2980B9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5" name="Text 2"/>
          <p:cNvSpPr/>
          <p:nvPr/>
        </p:nvSpPr>
        <p:spPr>
          <a:xfrm>
            <a:off x="640080" y="4434840"/>
            <a:ext cx="78638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 err="1">
                <a:solidFill>
                  <a:srgbClr val="6B7C9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图：系统首页</a:t>
            </a:r>
            <a:endParaRPr lang="en-US" sz="1000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072662"/>
            <a:ext cx="7765366" cy="327952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0"/>
            <a:ext cx="10972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980B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一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1828800"/>
            <a:ext cx="7863840" cy="1645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起点：Sink 注册表的过拟合</a:t>
            </a:r>
            <a:endParaRPr lang="en-US" sz="3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与四个优化层的失效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291840"/>
            <a:ext cx="7315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C9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从 0.9+ 的假象，到认识 LLM 的真正角色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初始框架搭建：Tree-sitter + Sink 注册表 + Ollama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640080" cy="32004"/>
          </a:xfrm>
          <a:prstGeom prst="rect">
            <a:avLst/>
          </a:prstGeom>
          <a:solidFill>
            <a:srgbClr val="2980B9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201168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effectLst>
            <a:outerShdw blurRad="38100" dist="127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45720" cy="2011680"/>
          </a:xfrm>
          <a:prstGeom prst="rect">
            <a:avLst/>
          </a:prstGeom>
          <a:solidFill>
            <a:srgbClr val="2980B9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530352" y="1243584"/>
            <a:ext cx="1737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980B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Tree-sitter AST 解析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30352" y="1517904"/>
            <a:ext cx="1737360" cy="1609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>
              <a:lnSpc>
                <a:spcPct val="120000"/>
              </a:lnSpc>
            </a:pPr>
            <a:r>
              <a:rPr lang="zh-CN" altLang="zh-CN" sz="1050" dirty="0"/>
              <a:t>将代码文本解析为抽象语法树，让程序能理解代码结构。</a:t>
            </a:r>
            <a:endParaRPr lang="en-US" altLang="zh-CN" sz="1050" dirty="0"/>
          </a:p>
          <a:p>
            <a:pPr>
              <a:lnSpc>
                <a:spcPct val="120000"/>
              </a:lnSpc>
            </a:pPr>
            <a:r>
              <a:rPr lang="zh-CN" altLang="zh-CN" sz="1050" dirty="0"/>
              <a:t>支持 C/C++/Python/Java，开源免费。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560320" y="1188720"/>
            <a:ext cx="201168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effectLst>
            <a:outerShdw blurRad="38100" dist="127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2560320" y="1188720"/>
            <a:ext cx="45720" cy="2011680"/>
          </a:xfrm>
          <a:prstGeom prst="rect">
            <a:avLst/>
          </a:prstGeom>
          <a:solidFill>
            <a:srgbClr val="E67E22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2724912" y="1243584"/>
            <a:ext cx="1737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7E2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Sink 危险函数注册表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724912" y="1517904"/>
            <a:ext cx="1737360" cy="1609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zh-CN" altLang="zh-CN" sz="1050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预定义的易受攻击函数列表，如 strcpy（缓冲区溢出）、system（命令注入）、memmove（内存越界），覆盖 13 类 C/C++ 漏洞。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54880" y="1188720"/>
            <a:ext cx="201168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effectLst>
            <a:outerShdw blurRad="38100" dist="127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4754880" y="1188720"/>
            <a:ext cx="45720" cy="2011680"/>
          </a:xfrm>
          <a:prstGeom prst="rect">
            <a:avLst/>
          </a:prstGeom>
          <a:solidFill>
            <a:srgbClr val="27AE60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4919472" y="1243584"/>
            <a:ext cx="1737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7AE6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Ollama 本地模型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19472" y="1517904"/>
            <a:ext cx="1737360" cy="1609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zh-CN" altLang="zh-CN" sz="1050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在本机运行大模型，数据不出本地。初期使用 deepseek-r1 8B。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949440" y="1188720"/>
            <a:ext cx="201168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effectLst>
            <a:outerShdw blurRad="38100" dist="127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6949440" y="1188720"/>
            <a:ext cx="45720" cy="2011680"/>
          </a:xfrm>
          <a:prstGeom prst="rect">
            <a:avLst/>
          </a:prstGeom>
          <a:solidFill>
            <a:srgbClr val="2980B9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7114032" y="1243584"/>
            <a:ext cx="1737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980B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多 LLM 接入支持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114032" y="1517904"/>
            <a:ext cx="1737360" cy="1609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zh-CN" altLang="zh-CN" sz="1050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后来支持了多种模型接入：GLM-4.6V、DeepSeek V4 Flash、本地 Ollama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多 LLM 接入：支持多种模型提供商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640080" cy="32004"/>
          </a:xfrm>
          <a:prstGeom prst="rect">
            <a:avLst/>
          </a:prstGeom>
          <a:solidFill>
            <a:srgbClr val="2980B9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5" name="Text 2"/>
          <p:cNvSpPr/>
          <p:nvPr/>
        </p:nvSpPr>
        <p:spPr>
          <a:xfrm>
            <a:off x="640080" y="4434840"/>
            <a:ext cx="78638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C9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图：LLM 配置页面 — GLM-4.6V / DeepSeek V4 Flash / Ollama 本地部署三种接入方式</a:t>
            </a:r>
            <a:endParaRPr lang="en-US" sz="1000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504" y="1003554"/>
            <a:ext cx="8058150" cy="336727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方法论坦诚：Sink 注册表的数据泄漏问题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640080" cy="32004"/>
          </a:xfrm>
          <a:prstGeom prst="rect">
            <a:avLst/>
          </a:prstGeom>
          <a:solidFill>
            <a:srgbClr val="2980B9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7863840" cy="2998967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zh-CN" altLang="zh-CN" dirty="0"/>
              <a:t>Sink 注册表是在早期自建测试集上编写和调优的：我们直接观察测试样本中哪些函数出现频繁、哪些与漏洞标注关联，然后加入注册表。这本质上是在测试集上“训练”规则</a:t>
            </a:r>
            <a:r>
              <a:rPr lang="zh-CN" altLang="en-US" dirty="0"/>
              <a:t>，造成了</a:t>
            </a:r>
            <a:r>
              <a:rPr lang="zh-CN" altLang="zh-CN" dirty="0"/>
              <a:t>数据泄漏。</a:t>
            </a:r>
            <a:endParaRPr lang="en-US" altLang="zh-CN" dirty="0"/>
          </a:p>
          <a:p>
            <a:endParaRPr lang="zh-CN" altLang="zh-CN" dirty="0"/>
          </a:p>
          <a:p>
            <a:r>
              <a:rPr lang="zh-CN" altLang="zh-CN" dirty="0"/>
              <a:t>意识到问题后，我们立刻更换了评测数据集。后续所有正式评测全部使用 PrimeVul 和 BigVul，与编写 sink 规则的数据集完全不重叠。</a:t>
            </a:r>
            <a:endParaRPr lang="en-US" altLang="zh-CN" dirty="0"/>
          </a:p>
          <a:p>
            <a:endParaRPr lang="zh-CN" altLang="zh-CN" dirty="0"/>
          </a:p>
          <a:p>
            <a:r>
              <a:rPr lang="zh-CN" altLang="en-US" dirty="0"/>
              <a:t>当然，</a:t>
            </a:r>
            <a:r>
              <a:rPr lang="zh-CN" altLang="zh-CN" dirty="0"/>
              <a:t>sink 函数本身是通用编程知识——strcpy 就是危险、system 就是可注入，不依赖具体数据集。泄漏的影响是方向性而非持续性的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四个“优化层”的叠加——</a:t>
            </a:r>
            <a:r>
              <a:rPr lang="en-US" sz="2400" b="1" dirty="0" err="1">
                <a:solidFill>
                  <a:srgbClr val="1A1A2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看起来很好，实际</a:t>
            </a:r>
            <a:r>
              <a:rPr lang="zh-CN" altLang="en-US" sz="2400" b="1" dirty="0">
                <a:solidFill>
                  <a:srgbClr val="1A1A2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几乎</a:t>
            </a:r>
            <a:r>
              <a:rPr lang="en-US" sz="2400" b="1" dirty="0" err="1">
                <a:solidFill>
                  <a:srgbClr val="1A1A2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失效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640080" cy="32004"/>
          </a:xfrm>
          <a:prstGeom prst="rect">
            <a:avLst/>
          </a:prstGeom>
          <a:solidFill>
            <a:srgbClr val="2980B9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2011680" cy="228600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effectLst>
            <a:outerShdw blurRad="38100" dist="127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45720" cy="2286000"/>
          </a:xfrm>
          <a:prstGeom prst="rect">
            <a:avLst/>
          </a:prstGeom>
          <a:solidFill>
            <a:srgbClr val="C0392B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530352" y="1243584"/>
            <a:ext cx="1737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① 数据流追踪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30352" y="1517904"/>
            <a:ext cx="1737360" cy="18836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B7C9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函数内 Source→Sink 路径分析：从危险函数调用出发，沿赋值链路往回走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B7C9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同时做单层跨函数追踪：source→helper→返回值→sink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560320" y="1188720"/>
            <a:ext cx="2011680" cy="228600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effectLst>
            <a:outerShdw blurRad="38100" dist="127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2560320" y="1188720"/>
            <a:ext cx="45720" cy="2286000"/>
          </a:xfrm>
          <a:prstGeom prst="rect">
            <a:avLst/>
          </a:prstGeom>
          <a:solidFill>
            <a:srgbClr val="C0392B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2724912" y="1243584"/>
            <a:ext cx="1737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② Sanitization 检测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724912" y="1517904"/>
            <a:ext cx="1737360" cy="18836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B7C9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正则表达式检测代码里是否做了边界检查、长度校验、参数化查询等安全措施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B7C9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覆盖 13 个漏洞类别，共 10 个正则表达式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754880" y="1188720"/>
            <a:ext cx="2011680" cy="228600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effectLst>
            <a:outerShdw blurRad="38100" dist="127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4754880" y="1188720"/>
            <a:ext cx="45720" cy="2286000"/>
          </a:xfrm>
          <a:prstGeom prst="rect">
            <a:avLst/>
          </a:prstGeom>
          <a:solidFill>
            <a:srgbClr val="C0392B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4919472" y="1243584"/>
            <a:ext cx="1737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③ 三阶段 LLM 推理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19472" y="1517904"/>
            <a:ext cx="1737360" cy="18836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B7C9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阶段一：CWE 筛查 → 阶段二：链式深度分析 → 阶段三：自检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B7C9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使用 deepseek-r1 8B 本地模型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949440" y="1188720"/>
            <a:ext cx="2011680" cy="228600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effectLst>
            <a:outerShdw blurRad="38100" dist="127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6949440" y="1188720"/>
            <a:ext cx="45720" cy="2286000"/>
          </a:xfrm>
          <a:prstGeom prst="rect">
            <a:avLst/>
          </a:prstGeom>
          <a:solidFill>
            <a:srgbClr val="E67E22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7114032" y="1243584"/>
            <a:ext cx="1737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7E2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④ RAG 知识库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114032" y="1517904"/>
            <a:ext cx="1737360" cy="18836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B7C9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用 BigVul 漏洞案例做检索增强生成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B7C9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向量嵌入 + 相似度匹配，辅助 LLM 判断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40080" y="3749040"/>
            <a:ext cx="78638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在 59 样本自建集上 F1 &gt; 0.9 —— </a:t>
            </a:r>
            <a:r>
              <a:rPr lang="en-US" sz="1200" b="1" dirty="0" err="1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看起来很好。但</a:t>
            </a:r>
            <a:r>
              <a:rPr lang="zh-CN" altLang="en-US" sz="1200" b="1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在更换了数据集后</a:t>
            </a:r>
            <a:r>
              <a:rPr lang="en-US" sz="1200" b="1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，三个优化层几乎全部失效。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优化层失效 ①：数据流追踪——硬过滤器杀伤真漏洞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640080" cy="32004"/>
          </a:xfrm>
          <a:prstGeom prst="rect">
            <a:avLst/>
          </a:prstGeom>
          <a:solidFill>
            <a:srgbClr val="2980B9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4114800" cy="34747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>
              <a:lnSpc>
                <a:spcPct val="125000"/>
              </a:lnSpc>
              <a:spcAft>
                <a:spcPts val="600"/>
              </a:spcAft>
              <a:buSzPct val="100000"/>
            </a:pPr>
            <a:r>
              <a:rPr lang="en-US" sz="10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设计思路：没有数据流路径就直接判安全——做成硬过滤器，一刀切拦截</a:t>
            </a:r>
            <a:endParaRPr lang="en-US" sz="1000" dirty="0"/>
          </a:p>
          <a:p>
            <a:pPr>
              <a:lnSpc>
                <a:spcPct val="125000"/>
              </a:lnSpc>
              <a:spcAft>
                <a:spcPts val="600"/>
              </a:spcAft>
              <a:buSzPct val="100000"/>
            </a:pPr>
            <a:r>
              <a:rPr lang="en-US" sz="10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致命缺陷：函数参数天然就是外部输入来源，数据流分析几乎总能连上 → 硬过滤条件区分度极差，等价于随机过滤</a:t>
            </a:r>
            <a:endParaRPr lang="en-US" sz="1000" dirty="0"/>
          </a:p>
          <a:p>
            <a:pPr>
              <a:lnSpc>
                <a:spcPct val="125000"/>
              </a:lnSpc>
              <a:spcAft>
                <a:spcPts val="600"/>
              </a:spcAft>
              <a:buSzPct val="100000"/>
            </a:pPr>
            <a:r>
              <a:rPr lang="en-US" sz="10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实际后果：反而砍掉了 17 个包含真漏洞的代码切片——这些 TP 被系统性漏掉</a:t>
            </a:r>
            <a:endParaRPr lang="en-US" sz="1000" dirty="0"/>
          </a:p>
          <a:p>
            <a:pPr>
              <a:lnSpc>
                <a:spcPct val="125000"/>
              </a:lnSpc>
              <a:spcAft>
                <a:spcPts val="600"/>
              </a:spcAft>
              <a:buSzPct val="100000"/>
            </a:pPr>
            <a:r>
              <a:rPr lang="en-US" sz="10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根本原因：单函数内 Source→Sink 路径几乎总是存在（因为函数参数 = 外部输入），硬过滤覆盖面太广反而没有区分度</a:t>
            </a:r>
            <a:endParaRPr lang="en-US" sz="1000" dirty="0"/>
          </a:p>
          <a:p>
            <a:pPr>
              <a:lnSpc>
                <a:spcPct val="125000"/>
              </a:lnSpc>
              <a:spcAft>
                <a:spcPts val="600"/>
              </a:spcAft>
              <a:buSzPct val="100000"/>
            </a:pPr>
            <a:r>
              <a:rPr lang="en-US" sz="10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修正方案：改为纯建议模式，不参与硬判决。数据流路径信息仅作为 Agent 推理的辅助参考信号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0" y="1188720"/>
            <a:ext cx="347472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effectLst>
            <a:outerShdw blurRad="38100" dist="127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5212080" y="1280160"/>
            <a:ext cx="31089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核心教训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212080" y="1600200"/>
            <a:ext cx="3108960" cy="914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>
              <a:lnSpc>
                <a:spcPct val="125000"/>
              </a:lnSpc>
              <a:spcAft>
                <a:spcPts val="400"/>
              </a:spcAft>
              <a:buSzPct val="100000"/>
            </a:pPr>
            <a:r>
              <a:rPr lang="en-US" sz="10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静态分析的结果不应该做硬判决</a:t>
            </a:r>
            <a:endParaRPr lang="en-US" sz="1000" dirty="0"/>
          </a:p>
          <a:p>
            <a:pPr>
              <a:lnSpc>
                <a:spcPct val="125000"/>
              </a:lnSpc>
              <a:spcAft>
                <a:spcPts val="400"/>
              </a:spcAft>
              <a:buSzPct val="100000"/>
            </a:pPr>
            <a:r>
              <a:rPr lang="en-US" sz="10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区分度比覆盖面更重要——宁可漏几个也要准</a:t>
            </a:r>
            <a:endParaRPr lang="en-US" sz="1000" dirty="0"/>
          </a:p>
          <a:p>
            <a:pPr>
              <a:lnSpc>
                <a:spcPct val="125000"/>
              </a:lnSpc>
              <a:spcAft>
                <a:spcPts val="400"/>
              </a:spcAft>
              <a:buSzPct val="100000"/>
            </a:pPr>
            <a:r>
              <a:rPr lang="en-US" sz="10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LLM 应该看到所有信号，自己做最终判断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优化层失效 ②：Sanitization——正则与真实代码脱节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640080" cy="32004"/>
          </a:xfrm>
          <a:prstGeom prst="rect">
            <a:avLst/>
          </a:prstGeom>
          <a:solidFill>
            <a:srgbClr val="2980B9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365760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777240" y="1234440"/>
            <a:ext cx="33832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7AE6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正则编写的理想代码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1463040"/>
            <a:ext cx="33832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C9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if (len &gt; MAX) return;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B7C9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if (check_bound(buf, size)) handle(buf);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754880" y="1188720"/>
            <a:ext cx="365760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4892040" y="1234440"/>
            <a:ext cx="33832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实际遇到的真实代码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892040" y="1463040"/>
            <a:ext cx="33832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C9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#ifdef DEBUG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B7C9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if (check_len(buf, sz))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B7C9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handle_safe(buf);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B7C9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#endif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" y="2194560"/>
            <a:ext cx="7863840" cy="25603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>
              <a:lnSpc>
                <a:spcPct val="125000"/>
              </a:lnSpc>
              <a:spcAft>
                <a:spcPts val="600"/>
              </a:spcAft>
              <a:buSzPct val="100000"/>
            </a:pPr>
            <a:r>
              <a:rPr lang="en-US" sz="10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10 个正则表达式，6 个跟真实代码对不上——正则是在理想化代码片段上写的，真实项目代码有宏包裹、嵌套调用、条件编译，完全匹配不到</a:t>
            </a:r>
            <a:endParaRPr lang="en-US" sz="1000" dirty="0"/>
          </a:p>
          <a:p>
            <a:pPr>
              <a:lnSpc>
                <a:spcPct val="125000"/>
              </a:lnSpc>
              <a:spcAft>
                <a:spcPts val="600"/>
              </a:spcAft>
              <a:buSzPct val="100000"/>
            </a:pPr>
            <a:r>
              <a:rPr lang="en-US" sz="10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检测到 sanitization ≠ 真正的充分防护。两个典型反例：sizeof 对变长指针不提供任何保护（sizeof(ptr) 在 x86-64 上永远返回 8）；strncpy 不保证空终止（如果源长度 ≥ n，目标不会以 \0 结尾）</a:t>
            </a:r>
            <a:endParaRPr lang="en-US" sz="1000" dirty="0"/>
          </a:p>
          <a:p>
            <a:pPr>
              <a:lnSpc>
                <a:spcPct val="125000"/>
              </a:lnSpc>
              <a:spcAft>
                <a:spcPts val="600"/>
              </a:spcAft>
              <a:buSzPct val="100000"/>
            </a:pPr>
            <a:r>
              <a:rPr lang="en-US" sz="1000" dirty="0" err="1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修正方案：sanitization</a:t>
            </a:r>
            <a:r>
              <a:rPr lang="en-US" sz="10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</a:t>
            </a:r>
            <a:r>
              <a:rPr lang="en-US" sz="1000" dirty="0" err="1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检测保留</a:t>
            </a:r>
            <a:r>
              <a:rPr lang="en-US" sz="10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，但只影响风险评级不做硬拦截。正则检测结果作为 LLM 推理的参考信号，而非判决依据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优化层失效 ③④：三阶段 LLM + 59 样本过拟合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640080" cy="32004"/>
          </a:xfrm>
          <a:prstGeom prst="rect">
            <a:avLst/>
          </a:prstGeom>
          <a:solidFill>
            <a:srgbClr val="2980B9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3840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三阶段 LLM 推理几乎无贡献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3840480" cy="2926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>
              <a:lnSpc>
                <a:spcPct val="125000"/>
              </a:lnSpc>
              <a:spcAft>
                <a:spcPts val="400"/>
              </a:spcAft>
              <a:buSzPct val="100000"/>
            </a:pPr>
            <a:r>
              <a:rPr lang="en-US" sz="10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1.对 F1 的贡献仅 +0.011（0.8657→0.8768）——千分之十一的提升，基本等于没贡献</a:t>
            </a:r>
            <a:endParaRPr lang="en-US" sz="1000" dirty="0"/>
          </a:p>
          <a:p>
            <a:pPr>
              <a:lnSpc>
                <a:spcPct val="125000"/>
              </a:lnSpc>
              <a:spcAft>
                <a:spcPts val="400"/>
              </a:spcAft>
              <a:buSzPct val="100000"/>
            </a:pPr>
            <a:r>
              <a:rPr lang="en-US" sz="10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2.deepseek-r1 8B 对安全代码过度推理——单个文件跑 40 到120 秒</a:t>
            </a:r>
            <a:endParaRPr lang="en-US" sz="1000" dirty="0"/>
          </a:p>
          <a:p>
            <a:pPr>
              <a:lnSpc>
                <a:spcPct val="125000"/>
              </a:lnSpc>
              <a:spcAft>
                <a:spcPts val="400"/>
              </a:spcAft>
              <a:buSzPct val="100000"/>
            </a:pPr>
            <a:r>
              <a:rPr lang="en-US" sz="10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3.三个阶段的串行设计导致延迟累积——筛查完等分析，分析完等自检</a:t>
            </a:r>
            <a:endParaRPr lang="en-US" sz="1000" dirty="0"/>
          </a:p>
          <a:p>
            <a:pPr>
              <a:lnSpc>
                <a:spcPct val="125000"/>
              </a:lnSpc>
              <a:spcAft>
                <a:spcPts val="400"/>
              </a:spcAft>
              <a:buSzPct val="100000"/>
            </a:pPr>
            <a:r>
              <a:rPr lang="en-US" sz="10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4.8B 参数模型对安全审计这种高度专业化的任务能力不足——</a:t>
            </a:r>
            <a:r>
              <a:rPr lang="en-US" sz="1000" dirty="0" err="1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模型本身太小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663440" y="1097280"/>
            <a:ext cx="3840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59 样本 F1 &gt; 0.9 是过拟合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663440" y="1417320"/>
            <a:ext cx="3840480" cy="2926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>
              <a:lnSpc>
                <a:spcPct val="125000"/>
              </a:lnSpc>
              <a:spcAft>
                <a:spcPts val="400"/>
              </a:spcAft>
              <a:buSzPct val="100000"/>
            </a:pPr>
            <a:r>
              <a:rPr lang="en-US" sz="10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59 个样本的数据集太小，根本没有统计区分度——任何一个稍微合理的方案都能刷到 0.9+</a:t>
            </a:r>
            <a:endParaRPr lang="en-US" sz="1000" dirty="0"/>
          </a:p>
          <a:p>
            <a:pPr>
              <a:lnSpc>
                <a:spcPct val="125000"/>
              </a:lnSpc>
              <a:spcAft>
                <a:spcPts val="400"/>
              </a:spcAft>
              <a:buSzPct val="100000"/>
            </a:pPr>
            <a:r>
              <a:rPr lang="en-US" sz="10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sink 注册表在该集上编写调优 → 数据泄漏进一步放大了分数</a:t>
            </a:r>
            <a:endParaRPr lang="en-US" sz="1000" dirty="0"/>
          </a:p>
          <a:p>
            <a:pPr>
              <a:lnSpc>
                <a:spcPct val="125000"/>
              </a:lnSpc>
              <a:spcAft>
                <a:spcPts val="400"/>
              </a:spcAft>
              <a:buSzPct val="100000"/>
            </a:pPr>
            <a:r>
              <a:rPr lang="en-US" sz="10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后续换用 PrimeVul（200 样本）性能大幅下降——说明 0.9+ 是假的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400"/>
              </a:spcAft>
              <a:buSzPct val="100000"/>
              <a:buChar char="•"/>
            </a:pPr>
            <a:endParaRPr lang="en-US" sz="1000" dirty="0"/>
          </a:p>
          <a:p>
            <a:pPr>
              <a:lnSpc>
                <a:spcPct val="125000"/>
              </a:lnSpc>
              <a:spcAft>
                <a:spcPts val="400"/>
              </a:spcAft>
              <a:buSzPct val="100000"/>
            </a:pPr>
            <a:r>
              <a:rPr lang="zh-CN" altLang="en-US" sz="10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这</a:t>
            </a:r>
            <a:r>
              <a:rPr lang="en-US" sz="1000" dirty="0" err="1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留下一个正确判断：LLM</a:t>
            </a:r>
            <a:r>
              <a:rPr lang="en-US" sz="10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的角色是 “发现” 而不是 “验证”</a:t>
            </a:r>
            <a:endParaRPr lang="en-US" sz="1000" dirty="0"/>
          </a:p>
          <a:p>
            <a:pPr>
              <a:lnSpc>
                <a:spcPct val="125000"/>
              </a:lnSpc>
              <a:spcAft>
                <a:spcPts val="400"/>
              </a:spcAft>
              <a:buSzPct val="100000"/>
            </a:pPr>
            <a:r>
              <a:rPr lang="en-US" altLang="zh-CN" sz="1000" dirty="0" err="1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LLM</a:t>
            </a:r>
            <a:r>
              <a:rPr lang="en-US" sz="1000" dirty="0" err="1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应弥补静态工具盲区：逻辑漏洞</a:t>
            </a:r>
            <a:r>
              <a:rPr lang="en-US" sz="10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/UAF/</a:t>
            </a:r>
            <a:r>
              <a:rPr lang="en-US" sz="1000" dirty="0" err="1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竞态条件</a:t>
            </a:r>
            <a:r>
              <a:rPr lang="en-US" sz="10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——</a:t>
            </a:r>
            <a:r>
              <a:rPr lang="zh-CN" altLang="en-US" sz="10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这些漏洞类型没有危险函数标记，静态工具完全看不到。</a:t>
            </a:r>
            <a:endParaRPr lang="en-US" sz="1000" dirty="0"/>
          </a:p>
          <a:p>
            <a:pPr>
              <a:lnSpc>
                <a:spcPct val="125000"/>
              </a:lnSpc>
              <a:spcAft>
                <a:spcPts val="400"/>
              </a:spcAft>
              <a:buSzPct val="100000"/>
            </a:pPr>
            <a:r>
              <a:rPr lang="zh-CN" altLang="en-US" sz="10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反过来，</a:t>
            </a:r>
            <a:r>
              <a:rPr lang="en-US" altLang="zh-CN" sz="10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LLM </a:t>
            </a:r>
            <a:r>
              <a:rPr lang="zh-CN" altLang="en-US" sz="10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不应重复验证静态工具已做好的事</a:t>
            </a:r>
            <a:r>
              <a:rPr lang="en-US" altLang="zh-CN" sz="10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——sink </a:t>
            </a:r>
            <a:r>
              <a:rPr lang="zh-CN" altLang="en-US" sz="10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检测、缓冲区溢出判断，用规则即可。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3657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980B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Phase 1 关键教训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7863840" cy="2011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LLM 的正确角色是 “发现” 而不是 “验证” ——</a:t>
            </a:r>
            <a:endParaRPr lang="en-US" sz="2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应该弥补静态工具的盲区：</a:t>
            </a:r>
            <a:endParaRPr lang="en-US" sz="2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逻辑漏洞、UAF、竞态条件，</a:t>
            </a:r>
            <a:endParaRPr lang="en-US" sz="2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而不是重新发明静态工具已经做好的事。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3566160"/>
            <a:ext cx="7315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C9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—— Phase 1 实验总结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4023360"/>
            <a:ext cx="1828800" cy="502920"/>
          </a:xfrm>
          <a:prstGeom prst="roundRect">
            <a:avLst>
              <a:gd name="adj" fmla="val 36364"/>
            </a:avLst>
          </a:prstGeom>
          <a:solidFill>
            <a:srgbClr val="1A2D45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731520" y="4069080"/>
            <a:ext cx="16459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0392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不要堆砌优化层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0" y="4023360"/>
            <a:ext cx="1828800" cy="502920"/>
          </a:xfrm>
          <a:prstGeom prst="roundRect">
            <a:avLst>
              <a:gd name="adj" fmla="val 36364"/>
            </a:avLst>
          </a:prstGeom>
          <a:solidFill>
            <a:srgbClr val="1A2D45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2834640" y="4069080"/>
            <a:ext cx="16459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67E2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不要在测试集上写规则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846320" y="4023360"/>
            <a:ext cx="1828800" cy="502920"/>
          </a:xfrm>
          <a:prstGeom prst="roundRect">
            <a:avLst>
              <a:gd name="adj" fmla="val 36364"/>
            </a:avLst>
          </a:prstGeom>
          <a:solidFill>
            <a:srgbClr val="1A2D45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4937760" y="4069080"/>
            <a:ext cx="16459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0392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不要用静态分析做硬判决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949440" y="4023360"/>
            <a:ext cx="1828800" cy="502920"/>
          </a:xfrm>
          <a:prstGeom prst="roundRect">
            <a:avLst>
              <a:gd name="adj" fmla="val 36364"/>
            </a:avLst>
          </a:prstGeom>
          <a:solidFill>
            <a:srgbClr val="1A2D45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7040880" y="4069080"/>
            <a:ext cx="16459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7AE6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LLM 的目标是补偿盲区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0"/>
            <a:ext cx="10972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980B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二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1828800"/>
            <a:ext cx="7863840" cy="1645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模块化：发现 LLM 层层杀 TP</a:t>
            </a:r>
            <a:endParaRPr lang="en-US" sz="3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与静态拦截问题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291840"/>
            <a:ext cx="7315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C9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从 Ollama R1 切换到云端 GLM-4.6V，管道拆解为可配置模块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3365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3365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2865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代码扫描界面：单样本分析与结果展示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640080" cy="32004"/>
          </a:xfrm>
          <a:prstGeom prst="rect">
            <a:avLst/>
          </a:prstGeom>
          <a:solidFill>
            <a:srgbClr val="2980B9"/>
          </a:solidFill>
        </p:spPr>
        <p:txBody>
          <a:bodyPr/>
          <a:lstStyle/>
          <a:p>
            <a:endParaRPr lang="zh-CN" altLang="en-US"/>
          </a:p>
        </p:txBody>
      </p:sp>
      <p:pic>
        <p:nvPicPr>
          <p:cNvPr id="4" name="Image 0" descr="D:\project\skill\output\screenshots\屏幕截图 2026-07-21 140210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1052439"/>
            <a:ext cx="4435719" cy="3200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4434840"/>
            <a:ext cx="78638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C9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图：代码扫描页面 — 左侧代码输入区，右侧 LLM 分析结果（漏洞类型、风险等级、推理过程）</a:t>
            </a:r>
            <a:endParaRPr lang="en-US" sz="1000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3106" y="1052439"/>
            <a:ext cx="4640893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0"/>
            <a:ext cx="10972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980B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三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1828800"/>
            <a:ext cx="7863840" cy="1645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V4：三级 Agent</a:t>
            </a:r>
            <a:endParaRPr lang="en-US" sz="3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+ 工具感知链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291840"/>
            <a:ext cx="7315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C9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架构重建：工具聚合 → LLM 推理 → 后处理。静态工具提供信号，LLM 做全部判决</a:t>
            </a:r>
            <a:endParaRPr lang="en-US" sz="1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64088"/>
            <a:ext cx="78638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V4 </a:t>
            </a:r>
            <a:r>
              <a:rPr lang="en-US" sz="2400" b="1" dirty="0" err="1">
                <a:solidFill>
                  <a:srgbClr val="1A1A2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工具感知链：整体管道架构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720966"/>
            <a:ext cx="640080" cy="32004"/>
          </a:xfrm>
          <a:prstGeom prst="rect">
            <a:avLst/>
          </a:prstGeom>
          <a:solidFill>
            <a:srgbClr val="2980B9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192938" y="1604628"/>
            <a:ext cx="1170432" cy="2011680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effectLst>
            <a:outerShdw blurRad="25400" dist="127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229514" y="1650348"/>
            <a:ext cx="36576" cy="1920240"/>
          </a:xfrm>
          <a:prstGeom prst="rect">
            <a:avLst/>
          </a:prstGeom>
          <a:solidFill>
            <a:srgbClr val="2980B9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320954" y="1650348"/>
            <a:ext cx="10058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工具聚合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0954" y="2336148"/>
            <a:ext cx="100584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B7C9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CodeSlicer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B7C9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CodeQL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B7C9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Semgrep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B7C9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并行运行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326794" y="2244708"/>
            <a:ext cx="182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C9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▸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326794" y="2244708"/>
            <a:ext cx="182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C9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▸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454810" y="1604628"/>
            <a:ext cx="1170432" cy="2011680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effectLst>
            <a:outerShdw blurRad="25400" dist="127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1491386" y="1650348"/>
            <a:ext cx="36576" cy="1920240"/>
          </a:xfrm>
          <a:prstGeom prst="rect">
            <a:avLst/>
          </a:prstGeom>
          <a:solidFill>
            <a:srgbClr val="2980B9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1582826" y="1650348"/>
            <a:ext cx="10058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Agent1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差异分析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582826" y="2336148"/>
            <a:ext cx="100584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B7C9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只看报告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B7C9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不看代码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B7C9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三输出决策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3770870" y="797526"/>
            <a:ext cx="1042416" cy="181294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effectLst>
            <a:outerShdw blurRad="25400" dist="127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3765393" y="823681"/>
            <a:ext cx="45719" cy="1776696"/>
          </a:xfrm>
          <a:prstGeom prst="rect">
            <a:avLst/>
          </a:prstGeom>
          <a:solidFill>
            <a:srgbClr val="C0392B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3809506" y="842730"/>
            <a:ext cx="10058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有 Sink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Agent2 激进验证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846082" y="1318878"/>
            <a:ext cx="100584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B7C9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假设可达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B7C9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有罪推定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B7C9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plausible=漏洞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3753571" y="2804778"/>
            <a:ext cx="1098351" cy="1894908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effectLst>
            <a:outerShdw blurRad="25400" dist="127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3781004" y="2804778"/>
            <a:ext cx="45719" cy="1849188"/>
          </a:xfrm>
          <a:prstGeom prst="rect">
            <a:avLst/>
          </a:prstGeom>
          <a:solidFill>
            <a:srgbClr val="27AE60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3881587" y="2733726"/>
            <a:ext cx="10058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无 Sink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Agent2 Checklist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881587" y="3419526"/>
            <a:ext cx="100584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B7C9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六类审计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B7C9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逐项填表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B7C9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消除猜测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4823336" y="1490739"/>
            <a:ext cx="166899" cy="317157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C9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▸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990235" y="823578"/>
            <a:ext cx="1068151" cy="174436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effectLst>
            <a:outerShdw blurRad="25400" dist="127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zh-CN" altLang="en-US" dirty="0"/>
          </a:p>
        </p:txBody>
      </p:sp>
      <p:sp>
        <p:nvSpPr>
          <p:cNvPr id="30" name="Shape 28"/>
          <p:cNvSpPr/>
          <p:nvPr/>
        </p:nvSpPr>
        <p:spPr>
          <a:xfrm>
            <a:off x="5021992" y="871974"/>
            <a:ext cx="45719" cy="1665073"/>
          </a:xfrm>
          <a:prstGeom prst="rect">
            <a:avLst/>
          </a:prstGeom>
          <a:solidFill>
            <a:srgbClr val="E67E22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5156747" y="819305"/>
            <a:ext cx="917942" cy="59466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Agent3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盲区扫描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195727" y="1413665"/>
            <a:ext cx="917942" cy="95147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B7C9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只找漏洞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B7C9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不判安全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B7C9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独立运行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7389341" y="819305"/>
            <a:ext cx="1170432" cy="3726023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effectLst>
            <a:outerShdw blurRad="25400" dist="127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33"/>
          <p:cNvSpPr/>
          <p:nvPr/>
        </p:nvSpPr>
        <p:spPr>
          <a:xfrm>
            <a:off x="7405644" y="871974"/>
            <a:ext cx="45719" cy="3644831"/>
          </a:xfrm>
          <a:prstGeom prst="rect">
            <a:avLst/>
          </a:prstGeom>
          <a:solidFill>
            <a:srgbClr val="6B7C93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7492149" y="1914577"/>
            <a:ext cx="10058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后处理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492149" y="2145749"/>
            <a:ext cx="100584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B7C9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冲突仲裁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B7C9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置信度校准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B7C9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质量检查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571212" y="4686300"/>
            <a:ext cx="78638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C9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核心设计原则：静态分析只提供信号，不做硬判决。所有样本都必须经过 LLM 推理。</a:t>
            </a:r>
            <a:endParaRPr lang="en-US" sz="1000" dirty="0"/>
          </a:p>
        </p:txBody>
      </p:sp>
      <p:cxnSp>
        <p:nvCxnSpPr>
          <p:cNvPr id="40" name="直接箭头连接符 39"/>
          <p:cNvCxnSpPr/>
          <p:nvPr/>
        </p:nvCxnSpPr>
        <p:spPr>
          <a:xfrm flipV="1">
            <a:off x="2817341" y="1655805"/>
            <a:ext cx="807308" cy="8130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箭头连接符 41"/>
          <p:cNvCxnSpPr/>
          <p:nvPr/>
        </p:nvCxnSpPr>
        <p:spPr>
          <a:xfrm>
            <a:off x="2817341" y="2651760"/>
            <a:ext cx="724929" cy="1143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箭头连接符 43"/>
          <p:cNvCxnSpPr/>
          <p:nvPr/>
        </p:nvCxnSpPr>
        <p:spPr>
          <a:xfrm>
            <a:off x="5021992" y="3566984"/>
            <a:ext cx="223933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箭头连接符 45"/>
          <p:cNvCxnSpPr/>
          <p:nvPr/>
        </p:nvCxnSpPr>
        <p:spPr>
          <a:xfrm>
            <a:off x="6292061" y="1923227"/>
            <a:ext cx="1041997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工具聚合层：三个静态分析引擎，各有所长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640080" cy="32004"/>
          </a:xfrm>
          <a:prstGeom prst="rect">
            <a:avLst/>
          </a:prstGeom>
          <a:solidFill>
            <a:srgbClr val="2980B9"/>
          </a:solidFill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6" name="Table 0"/>
          <p:cNvGraphicFramePr>
            <a:graphicFrameLocks noGrp="1"/>
          </p:cNvGraphicFramePr>
          <p:nvPr/>
        </p:nvGraphicFramePr>
        <p:xfrm>
          <a:off x="640080" y="1097280"/>
          <a:ext cx="7863840" cy="1508760"/>
        </p:xfrm>
        <a:graphic>
          <a:graphicData uri="http://schemas.openxmlformats.org/drawingml/2006/table">
            <a:tbl>
              <a:tblPr/>
              <a:tblGrid>
                <a:gridCol w="15727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27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727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727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727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工具</a:t>
                      </a:r>
                      <a:endParaRPr lang="en-US" sz="9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类型</a:t>
                      </a:r>
                      <a:endParaRPr lang="en-US" sz="9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核心优势</a:t>
                      </a:r>
                      <a:endParaRPr lang="en-US" sz="9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主要盲区</a:t>
                      </a:r>
                      <a:endParaRPr lang="en-US" sz="9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典型检出漏洞</a:t>
                      </a:r>
                      <a:endParaRPr lang="en-US" sz="9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5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 err="1">
                          <a:solidFill>
                            <a:srgbClr val="1A1A2E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CodeSlicer（自研</a:t>
                      </a:r>
                      <a:r>
                        <a:rPr lang="en-US" sz="900" dirty="0">
                          <a:solidFill>
                            <a:srgbClr val="1A1A2E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）</a:t>
                      </a:r>
                      <a:endParaRPr lang="en-US" sz="9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980B9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tree-sitter AST</a:t>
                      </a:r>
                      <a:endParaRPr lang="en-US" sz="9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零外部依赖 / 毫秒级响应</a:t>
                      </a:r>
                      <a:endParaRPr lang="en-US" sz="9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精确定位到代码行</a:t>
                      </a:r>
                      <a:endParaRPr lang="en-US" sz="9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无跨函数分析</a:t>
                      </a:r>
                      <a:endParaRPr lang="en-US" sz="9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无指针别名追踪</a:t>
                      </a:r>
                      <a:endParaRPr lang="en-US" sz="9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sink 函数调用</a:t>
                      </a:r>
                      <a:endParaRPr lang="en-US" sz="9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危险模式匹配</a:t>
                      </a:r>
                      <a:endParaRPr lang="en-US" sz="9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CodeQL（GitHub）</a:t>
                      </a:r>
                      <a:endParaRPr lang="en-US" sz="9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980B9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CFG+DFG</a:t>
                      </a:r>
                      <a:endParaRPr lang="en-US" sz="9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980B9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污点追踪</a:t>
                      </a:r>
                      <a:endParaRPr lang="en-US" sz="9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跨函数漏洞检测</a:t>
                      </a:r>
                      <a:endParaRPr lang="en-US" sz="9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企业级分析引擎</a:t>
                      </a:r>
                      <a:endParaRPr lang="en-US" sz="9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需合法语法结构</a:t>
                      </a:r>
                      <a:endParaRPr lang="en-US" sz="9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截断代码兼容性差</a:t>
                      </a:r>
                      <a:endParaRPr lang="en-US" sz="9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UAF / 整数溢出</a:t>
                      </a:r>
                      <a:endParaRPr lang="en-US" sz="9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跨函数漏洞</a:t>
                      </a:r>
                      <a:endParaRPr lang="en-US" sz="9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Semgrep</a:t>
                      </a:r>
                      <a:endParaRPr lang="en-US" sz="9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980B9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AST 模式</a:t>
                      </a:r>
                      <a:endParaRPr lang="en-US" sz="9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980B9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匹配</a:t>
                      </a:r>
                      <a:endParaRPr lang="en-US" sz="9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极快扫描速度</a:t>
                      </a:r>
                      <a:endParaRPr lang="en-US" sz="9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YAML 规则可定制</a:t>
                      </a:r>
                      <a:endParaRPr lang="en-US" sz="9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丰富社区规则生态</a:t>
                      </a:r>
                      <a:endParaRPr lang="en-US" sz="9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浅层语法匹配</a:t>
                      </a:r>
                      <a:endParaRPr lang="en-US" sz="9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不做语义推理</a:t>
                      </a:r>
                      <a:endParaRPr lang="en-US" sz="9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已知漏洞模式</a:t>
                      </a:r>
                      <a:endParaRPr lang="en-US" sz="9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代码规范违规</a:t>
                      </a:r>
                      <a:endParaRPr lang="en-US" sz="9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2651760"/>
            <a:ext cx="78638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C9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注：代码中还集成了 Flawfinder 和 Cppcheck，但评测中主要使用前三者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640080" y="2971800"/>
            <a:ext cx="7863840" cy="17373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>
              <a:lnSpc>
                <a:spcPct val="125000"/>
              </a:lnSpc>
              <a:spcAft>
                <a:spcPts val="500"/>
              </a:spcAft>
              <a:buSzPct val="100000"/>
            </a:pPr>
            <a:endParaRPr lang="en-US" sz="1000" dirty="0">
              <a:solidFill>
                <a:srgbClr val="1A1A2E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</a:endParaRPr>
          </a:p>
          <a:p>
            <a:pPr>
              <a:lnSpc>
                <a:spcPct val="125000"/>
              </a:lnSpc>
              <a:spcAft>
                <a:spcPts val="500"/>
              </a:spcAft>
              <a:buSzPct val="100000"/>
            </a:pPr>
            <a:r>
              <a:rPr lang="en-US" sz="1000" dirty="0" err="1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三个工具输出经格式归一化后，做共识分析和盲区识别</a:t>
            </a:r>
            <a:r>
              <a:rPr lang="en-US" sz="10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——为 Agent1 提供结构化的工具信号报告</a:t>
            </a:r>
            <a:endParaRPr lang="en-US" sz="1000" dirty="0"/>
          </a:p>
          <a:p>
            <a:pPr>
              <a:lnSpc>
                <a:spcPct val="125000"/>
              </a:lnSpc>
              <a:spcAft>
                <a:spcPts val="500"/>
              </a:spcAft>
              <a:buSzPct val="100000"/>
            </a:pPr>
            <a:r>
              <a:rPr lang="en-US" sz="10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共识分析：≥2 工具在同一代码区域共识 → 高信号（可信度高）；单工具发现 → 中等信号（需 LLM 进一步验证）；全部沉默 → 无信号（需盲区扫描补充）</a:t>
            </a:r>
            <a:endParaRPr lang="en-US" sz="1000" dirty="0"/>
          </a:p>
          <a:p>
            <a:pPr>
              <a:lnSpc>
                <a:spcPct val="125000"/>
              </a:lnSpc>
              <a:spcAft>
                <a:spcPts val="500"/>
              </a:spcAft>
              <a:buSzPct val="100000"/>
            </a:pPr>
            <a:r>
              <a:rPr lang="en-US" sz="10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盲区识别：标注当前工具组合覆盖不到的漏洞类型——逻辑缺陷、配置错误、TOCTOU 等，这些信息传递给 Agent2 的 checklist</a:t>
            </a:r>
            <a:endParaRPr lang="en-US" sz="1000" dirty="0"/>
          </a:p>
          <a:p>
            <a:pPr>
              <a:lnSpc>
                <a:spcPct val="125000"/>
              </a:lnSpc>
              <a:spcAft>
                <a:spcPts val="500"/>
              </a:spcAft>
              <a:buSzPct val="100000"/>
            </a:pPr>
            <a:r>
              <a:rPr lang="en-US" sz="10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最终产出的结构化工具报告通常只有几百 token，远小于完整代码，极大节约 LLM 上下文窗口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661" y="215728"/>
            <a:ext cx="4491265" cy="4712043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5021458" y="378941"/>
            <a:ext cx="380588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"consensus": {"level": "high", "</a:t>
            </a:r>
            <a:r>
              <a:rPr lang="en-US" altLang="zh-CN" sz="1400" dirty="0" err="1"/>
              <a:t>tool_count</a:t>
            </a:r>
            <a:r>
              <a:rPr lang="en-US" altLang="zh-CN" sz="1400" dirty="0"/>
              <a:t>": 3, "detail": "3 tools agree on </a:t>
            </a:r>
            <a:r>
              <a:rPr lang="en-US" altLang="zh-CN" sz="1400" dirty="0" err="1"/>
              <a:t>buffer_overflow</a:t>
            </a:r>
            <a:r>
              <a:rPr lang="en-US" altLang="zh-CN" sz="1400" dirty="0"/>
              <a:t> area"}</a:t>
            </a:r>
          </a:p>
          <a:p>
            <a:r>
              <a:rPr lang="en-US" altLang="zh-CN" sz="1400" dirty="0"/>
              <a:t>  </a:t>
            </a:r>
            <a:r>
              <a:rPr lang="zh-CN" altLang="en-US" sz="1400" dirty="0"/>
              <a:t>三个工具指向同一行同一个问题</a:t>
            </a:r>
            <a:r>
              <a:rPr lang="en-US" altLang="zh-CN" sz="1400" dirty="0"/>
              <a:t>——</a:t>
            </a:r>
            <a:r>
              <a:rPr lang="en-US" altLang="zh-CN" sz="1400" dirty="0" err="1"/>
              <a:t>buffer_overflow</a:t>
            </a:r>
            <a:r>
              <a:rPr lang="zh-CN" altLang="en-US" sz="1400" dirty="0"/>
              <a:t>。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5173362" y="1738184"/>
            <a:ext cx="3653977" cy="1095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5082746" y="1408670"/>
            <a:ext cx="397887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 "</a:t>
            </a:r>
            <a:r>
              <a:rPr lang="en-US" altLang="zh-CN" sz="1400" dirty="0" err="1"/>
              <a:t>blind_spots</a:t>
            </a:r>
            <a:r>
              <a:rPr lang="en-US" altLang="zh-CN" sz="1400" dirty="0"/>
              <a:t>": ["</a:t>
            </a:r>
            <a:r>
              <a:rPr lang="en-US" altLang="zh-CN" sz="1400" dirty="0" err="1"/>
              <a:t>logic_flaws</a:t>
            </a:r>
            <a:r>
              <a:rPr lang="en-US" altLang="zh-CN" sz="1400" dirty="0"/>
              <a:t>", "TOCTOU", "</a:t>
            </a:r>
            <a:r>
              <a:rPr lang="en-US" altLang="zh-CN" sz="1400" dirty="0" err="1"/>
              <a:t>cryptography_misuse</a:t>
            </a:r>
            <a:r>
              <a:rPr lang="en-US" altLang="zh-CN" sz="1400" dirty="0"/>
              <a:t>"]</a:t>
            </a:r>
          </a:p>
          <a:p>
            <a:r>
              <a:rPr lang="en-US" altLang="zh-CN" dirty="0"/>
              <a:t>  </a:t>
            </a:r>
            <a:r>
              <a:rPr lang="zh-CN" altLang="en-US" sz="1400" dirty="0"/>
              <a:t>即使三个工具都在，仍然有三类漏洞完全没人查</a:t>
            </a:r>
            <a:r>
              <a:rPr lang="en-US" altLang="zh-CN" sz="1400" dirty="0"/>
              <a:t>——</a:t>
            </a:r>
            <a:r>
              <a:rPr lang="zh-CN" altLang="en-US" sz="1400" dirty="0"/>
              <a:t>逻辑缺陷、</a:t>
            </a:r>
            <a:r>
              <a:rPr lang="en-US" altLang="zh-CN" sz="1400" dirty="0"/>
              <a:t>TOCTOU</a:t>
            </a:r>
            <a:r>
              <a:rPr lang="zh-CN" altLang="en-US" sz="1400" dirty="0"/>
              <a:t>、密码误用。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Agent1：只看工具报告，不看原始代码——差异分析师的定位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640080" cy="32004"/>
          </a:xfrm>
          <a:prstGeom prst="rect">
            <a:avLst/>
          </a:prstGeom>
          <a:solidFill>
            <a:srgbClr val="2980B9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384048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effectLst>
            <a:outerShdw blurRad="38100" dist="127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640080" y="1188720"/>
            <a:ext cx="45720" cy="1188720"/>
          </a:xfrm>
          <a:prstGeom prst="rect">
            <a:avLst/>
          </a:prstGeom>
          <a:solidFill>
            <a:srgbClr val="2980B9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804672" y="1243584"/>
            <a:ext cx="35661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980B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原因一：保持交叉验证意义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04672" y="1517904"/>
            <a:ext cx="3566160" cy="7863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B7C9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如果 Agent1 先看代码就会形成自己的预判，失去多工具交叉验证的价值。Agent1 的角色是 “差异分析师” ——识别工具之间的共识和分歧，判断哪些信号可信、哪些需要 LLM 进一步验证。它不是初级审计员，不应该自己从头看代码。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384048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effectLst>
            <a:outerShdw blurRad="38100" dist="127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4754880" y="1188720"/>
            <a:ext cx="45720" cy="1188720"/>
          </a:xfrm>
          <a:prstGeom prst="rect">
            <a:avLst/>
          </a:prstGeom>
          <a:solidFill>
            <a:srgbClr val="27AE60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4919472" y="1243584"/>
            <a:ext cx="35661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7AE6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原因二：极大节约上下文窗口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19472" y="1517904"/>
            <a:ext cx="3566160" cy="7863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B7C9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工具报告通常只有几百个 token，而完整代码可能有几千甚至上万 token。在上下文窗口有限的情况下，优先保证 LLM 有真正的推理空间——把宝贵的 token 预算留给 Agent2 和 Agent3 的深度代码分析。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" y="2606040"/>
            <a:ext cx="4572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Agent1 输出三个关键决策（不是最终判决）</a:t>
            </a:r>
            <a:endParaRPr lang="en-US" sz="13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/>
        </p:nvGraphicFramePr>
        <p:xfrm>
          <a:off x="640080" y="2926080"/>
          <a:ext cx="7863840" cy="1042416"/>
        </p:xfrm>
        <a:graphic>
          <a:graphicData uri="http://schemas.openxmlformats.org/drawingml/2006/table">
            <a:tbl>
              <a:tblPr/>
              <a:tblGrid>
                <a:gridCol w="1965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决策字段</a:t>
                      </a:r>
                      <a:endParaRPr lang="en-US" sz="9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含义</a:t>
                      </a:r>
                      <a:endParaRPr lang="en-US" sz="9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可选值</a:t>
                      </a:r>
                      <a:endParaRPr lang="en-US" sz="9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对下游的影响</a:t>
                      </a:r>
                      <a:endParaRPr lang="en-US" sz="9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5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initial_verdict</a:t>
                      </a:r>
                      <a:endParaRPr lang="en-US" sz="9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980B9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是否值得继续审查</a:t>
                      </a:r>
                      <a:endParaRPr lang="en-US" sz="9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suspicious / not suspicious</a:t>
                      </a:r>
                      <a:endParaRPr lang="en-US" sz="9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决定是否触发 Agent2 深度分析</a:t>
                      </a:r>
                      <a:endParaRPr lang="en-US" sz="9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window_suggestion</a:t>
                      </a:r>
                      <a:endParaRPr lang="en-US" sz="9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980B9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建议的代码窗口大小</a:t>
                      </a:r>
                      <a:endParaRPr lang="en-US" sz="9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iris (±5行) / medium / full</a:t>
                      </a:r>
                      <a:endParaRPr lang="en-US" sz="9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决定传给 Agent2 的代码截取范围</a:t>
                      </a:r>
                      <a:endParaRPr lang="en-US" sz="9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blind_spot_risk</a:t>
                      </a:r>
                      <a:endParaRPr lang="en-US" sz="9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980B9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工具组合可能遗漏的风险</a:t>
                      </a:r>
                      <a:endParaRPr lang="en-US" sz="9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UAF / 竞态 / 逻辑缺陷 等</a:t>
                      </a:r>
                      <a:endParaRPr lang="en-US" sz="9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补充到 Agent2 的 checklist 审计项</a:t>
                      </a:r>
                      <a:endParaRPr lang="en-US" sz="9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893276" y="782595"/>
            <a:ext cx="2858529" cy="30315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7664" y="1105416"/>
            <a:ext cx="5801875" cy="1860206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794" y="306344"/>
            <a:ext cx="2791553" cy="3730197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3469216" y="3288443"/>
            <a:ext cx="53387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Agent1</a:t>
            </a:r>
            <a:r>
              <a:rPr lang="zh-CN" altLang="en-US" dirty="0"/>
              <a:t>输出：分析原因，让</a:t>
            </a:r>
            <a:r>
              <a:rPr lang="en-US" altLang="zh-CN" dirty="0"/>
              <a:t>agent2</a:t>
            </a:r>
            <a:r>
              <a:rPr lang="zh-CN" altLang="en-US" dirty="0"/>
              <a:t>聚焦在</a:t>
            </a:r>
            <a:r>
              <a:rPr lang="en-US" altLang="zh-CN" dirty="0"/>
              <a:t>±15</a:t>
            </a:r>
            <a:r>
              <a:rPr lang="zh-CN" altLang="en-US" dirty="0"/>
              <a:t>行窗口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核心设计分歧：有 Sink 和无 Sink，走两条完全不同的路径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640080" cy="32004"/>
          </a:xfrm>
          <a:prstGeom prst="rect">
            <a:avLst/>
          </a:prstGeom>
          <a:solidFill>
            <a:srgbClr val="2980B9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365760" y="1142999"/>
            <a:ext cx="4023360" cy="3859823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effectLst>
            <a:outerShdw blurRad="38100" dist="127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3657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392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● 有 Sink 路径 → confirm_it 激进验证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3657600" cy="26517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触发条件：静态工具给出了明确的危险信号——代码中有 strcpy、memmove、system 等已知危险函数调用</a:t>
            </a:r>
            <a:endParaRPr lang="en-US" sz="950" dirty="0"/>
          </a:p>
          <a:p>
            <a:pPr marL="342900" indent="-342900">
              <a:lnSpc>
                <a:spcPct val="125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Agent2 用激进验证策略做深度判定，三条核心原则：</a:t>
            </a:r>
            <a:endParaRPr lang="en-US" sz="950" dirty="0"/>
          </a:p>
          <a:p>
            <a:pPr marL="342900" indent="-342900">
              <a:lnSpc>
                <a:spcPct val="125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 原则 1：假设 sink 始终可达，除非有硬证据证明不可达——不因为找不到证据就判安全</a:t>
            </a:r>
            <a:endParaRPr lang="en-US" sz="950" dirty="0"/>
          </a:p>
          <a:p>
            <a:pPr marL="342900" indent="-342900">
              <a:lnSpc>
                <a:spcPct val="125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 原则 2：对清理措施做有罪推定——sizeof 对变长数据不提供保护，strncpy 不保证空终止，看到不等于安全</a:t>
            </a:r>
            <a:endParaRPr lang="en-US" sz="950" dirty="0"/>
          </a:p>
          <a:p>
            <a:pPr marL="342900" indent="-342900">
              <a:lnSpc>
                <a:spcPct val="125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 原则 3：只有证明漏洞不可能时才判 safe——只要存在一种 plausible 的利用路径就判漏洞</a:t>
            </a:r>
            <a:endParaRPr lang="en-US" sz="950" dirty="0"/>
          </a:p>
          <a:p>
            <a:pPr marL="342900" indent="-342900">
              <a:lnSpc>
                <a:spcPct val="125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为什么这么激进？安全审计场景下，漏报的代价远大于误报——错过一个真漏洞的后果比多报十个假漏洞严重得多</a:t>
            </a:r>
            <a:endParaRPr lang="en-US" sz="950" dirty="0"/>
          </a:p>
          <a:p>
            <a:pPr marL="342900" indent="-342900">
              <a:lnSpc>
                <a:spcPct val="125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对比实验验证：保守策略（Agent2 做驳回员，先入为主地倾向驳回）→ 大量真漏洞被漏掉</a:t>
            </a:r>
            <a:endParaRPr lang="en-US" sz="950" dirty="0"/>
          </a:p>
          <a:p>
            <a:pPr marL="342900" indent="-342900">
              <a:lnSpc>
                <a:spcPct val="125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激进策略把 Agent2 从驳回员变成裁判 → 召回率显著提升，代价是精确率有一定下降，这个取舍我们认为值得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754880" y="1142999"/>
            <a:ext cx="4023360" cy="3793881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effectLst>
            <a:outerShdw blurRad="38100" dist="127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4937760" y="1234440"/>
            <a:ext cx="3657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7AE6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○ 无 Sink 路径 → checklist 六类审计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937760" y="1645920"/>
            <a:ext cx="3657600" cy="26517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触发条件：所有工具都沉默了——但这绝对不代表代码安全！UAF、竞态条件、off-by-one、逻辑错误根本不对应任何已知 sink 模式</a:t>
            </a:r>
            <a:endParaRPr lang="en-US" sz="950" dirty="0"/>
          </a:p>
          <a:p>
            <a:pPr marL="342900" indent="-342900">
              <a:lnSpc>
                <a:spcPct val="125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这时激进逐行验证没有意义——没有具体的危险函数可以验证，盲目追问 “这里有漏洞吗” 只会得到 LLM 的随机猜测</a:t>
            </a:r>
            <a:endParaRPr lang="en-US" sz="950" dirty="0"/>
          </a:p>
          <a:p>
            <a:pPr marL="342900" indent="-342900">
              <a:lnSpc>
                <a:spcPct val="125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取而代之的是 checklist 六类专项审计——系统回顾 CWE Top 25 和 OWASP 分类后，绝大多数代码漏洞可归纳到六类</a:t>
            </a:r>
            <a:endParaRPr lang="en-US" sz="950" dirty="0"/>
          </a:p>
          <a:p>
            <a:pPr marL="342900" indent="-342900">
              <a:lnSpc>
                <a:spcPct val="125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让 LLM 逐项填表，不是自由发挥：MEMORY 项 → UAF=YES/NO，证据在第 X 行；INTEGER 项 → 溢出=YES/NO，证据在第 Y 行</a:t>
            </a:r>
            <a:endParaRPr lang="en-US" sz="950" dirty="0"/>
          </a:p>
          <a:p>
            <a:pPr marL="342900" indent="-342900">
              <a:lnSpc>
                <a:spcPct val="125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从模糊的 “可能有漏洞” 变成具体的是/否判断 + 代码行号证据——大幅减少了模型的猜测空间</a:t>
            </a:r>
            <a:endParaRPr lang="en-US" sz="950" dirty="0"/>
          </a:p>
          <a:p>
            <a:pPr marL="342900" indent="-342900">
              <a:lnSpc>
                <a:spcPct val="125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消融实验验证：通用全面扫描 prompt F1=0.62 → Checklist 六类审计 F1=0.74（提升 19%）</a:t>
            </a:r>
            <a:endParaRPr lang="en-US" sz="9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Checklist 六类专项审计：基于 CWE Top 25 + OWASP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640080" cy="32004"/>
          </a:xfrm>
          <a:prstGeom prst="rect">
            <a:avLst/>
          </a:prstGeom>
          <a:solidFill>
            <a:srgbClr val="2980B9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411480" y="1143000"/>
            <a:ext cx="265176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effectLst>
            <a:outerShdw blurRad="25400" dist="12700" dir="16200000" algn="bl" rotWithShape="0">
              <a:srgbClr val="000000">
                <a:alpha val="4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411480" y="1143000"/>
            <a:ext cx="2651760" cy="41148"/>
          </a:xfrm>
          <a:prstGeom prst="rect">
            <a:avLst/>
          </a:prstGeom>
          <a:solidFill>
            <a:srgbClr val="C0392B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502920" y="1234440"/>
            <a:ext cx="2468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① 内存安全 MEMORY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554480"/>
            <a:ext cx="246888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释放后再使用 (UAF)</a:t>
            </a:r>
            <a:endParaRPr lang="en-US" sz="9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双重释放 (Double Free)</a:t>
            </a:r>
            <a:endParaRPr lang="en-US" sz="9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内存泄漏 / 悬垂指针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46120" y="1143000"/>
            <a:ext cx="265176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effectLst>
            <a:outerShdw blurRad="25400" dist="12700" dir="16200000" algn="bl" rotWithShape="0">
              <a:srgbClr val="000000">
                <a:alpha val="4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3246120" y="1143000"/>
            <a:ext cx="2651760" cy="41148"/>
          </a:xfrm>
          <a:prstGeom prst="rect">
            <a:avLst/>
          </a:prstGeom>
          <a:solidFill>
            <a:srgbClr val="E67E22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3337560" y="1234440"/>
            <a:ext cx="2468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7E2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② 整数安全 INTEGER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337560" y="1554480"/>
            <a:ext cx="246888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整数溢出 / 下溢</a:t>
            </a:r>
            <a:endParaRPr lang="en-US" sz="9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整数截断</a:t>
            </a:r>
            <a:endParaRPr lang="en-US" sz="9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有符号/无符号转换错误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080760" y="1143000"/>
            <a:ext cx="265176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effectLst>
            <a:outerShdw blurRad="25400" dist="12700" dir="16200000" algn="bl" rotWithShape="0">
              <a:srgbClr val="000000">
                <a:alpha val="4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6080760" y="1143000"/>
            <a:ext cx="2651760" cy="41148"/>
          </a:xfrm>
          <a:prstGeom prst="rect">
            <a:avLst/>
          </a:prstGeom>
          <a:solidFill>
            <a:srgbClr val="E67E22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6172200" y="1234440"/>
            <a:ext cx="2468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7E2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③ 边界安全 BOUNDARY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172200" y="1554480"/>
            <a:ext cx="246888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数组越界读写</a:t>
            </a:r>
            <a:endParaRPr lang="en-US" sz="9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Off-by-one 错误</a:t>
            </a:r>
            <a:endParaRPr lang="en-US" sz="9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缓冲区长度计算错误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11480" y="2697480"/>
            <a:ext cx="265176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effectLst>
            <a:outerShdw blurRad="25400" dist="12700" dir="16200000" algn="bl" rotWithShape="0">
              <a:srgbClr val="000000">
                <a:alpha val="4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411480" y="2697480"/>
            <a:ext cx="2651760" cy="41148"/>
          </a:xfrm>
          <a:prstGeom prst="rect">
            <a:avLst/>
          </a:prstGeom>
          <a:solidFill>
            <a:srgbClr val="2980B9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502920" y="2788920"/>
            <a:ext cx="2468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980B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④ 并发安全 CONCURRENCY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" y="3108960"/>
            <a:ext cx="246888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竞态条件 (Race Condition)</a:t>
            </a:r>
            <a:endParaRPr lang="en-US" sz="9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TOCTOU 检查到使用时间差</a:t>
            </a:r>
            <a:endParaRPr lang="en-US" sz="9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死锁 / 活锁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46120" y="2697480"/>
            <a:ext cx="265176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effectLst>
            <a:outerShdw blurRad="25400" dist="12700" dir="16200000" algn="bl" rotWithShape="0">
              <a:srgbClr val="000000">
                <a:alpha val="4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3246120" y="2697480"/>
            <a:ext cx="2651760" cy="41148"/>
          </a:xfrm>
          <a:prstGeom prst="rect">
            <a:avLst/>
          </a:prstGeom>
          <a:solidFill>
            <a:srgbClr val="2980B9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3337560" y="2788920"/>
            <a:ext cx="2468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980B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⑤ 错误路径 ERROR PATHS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337560" y="3108960"/>
            <a:ext cx="246888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空指针解引用</a:t>
            </a:r>
            <a:endParaRPr lang="en-US" sz="9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资源泄漏（fd / memory）</a:t>
            </a:r>
            <a:endParaRPr lang="en-US" sz="9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函数返回值未检查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080760" y="2697480"/>
            <a:ext cx="265176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effectLst>
            <a:outerShdw blurRad="25400" dist="12700" dir="16200000" algn="bl" rotWithShape="0">
              <a:srgbClr val="000000">
                <a:alpha val="4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6080760" y="2697480"/>
            <a:ext cx="2651760" cy="41148"/>
          </a:xfrm>
          <a:prstGeom prst="rect">
            <a:avLst/>
          </a:prstGeom>
          <a:solidFill>
            <a:srgbClr val="27AE60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6172200" y="2788920"/>
            <a:ext cx="2468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7AE6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⑥ 逻辑缺陷 LOGIC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172200" y="3108960"/>
            <a:ext cx="246888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条件恒真或恒假</a:t>
            </a:r>
            <a:endParaRPr lang="en-US" sz="9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分支缺失 / 死代码</a:t>
            </a:r>
            <a:endParaRPr lang="en-US" sz="9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循环边界 / 索引越界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40080" y="4434840"/>
            <a:ext cx="78638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980B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消融验证：通用 “全面扫描” prompt F1=0.62 → Checklist 逐项填表 F1=0.74（+19%）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976" y="722356"/>
            <a:ext cx="6915150" cy="15240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313038" y="268415"/>
            <a:ext cx="13155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Agent2</a:t>
            </a:r>
            <a:r>
              <a:rPr lang="zh-CN" altLang="en-US" dirty="0"/>
              <a:t>输出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116806" y="2544801"/>
            <a:ext cx="89103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/>
              <a:t> </a:t>
            </a:r>
            <a:r>
              <a:rPr lang="en-US" altLang="zh-CN" sz="1600" dirty="0" err="1"/>
              <a:t>memcpy</a:t>
            </a:r>
            <a:r>
              <a:rPr lang="en-US" altLang="zh-CN" sz="1600" dirty="0"/>
              <a:t> </a:t>
            </a:r>
            <a:r>
              <a:rPr lang="zh-CN" altLang="en-US" sz="1600" dirty="0"/>
              <a:t>调用使用的 </a:t>
            </a:r>
            <a:r>
              <a:rPr lang="en-US" altLang="zh-CN" sz="1600" dirty="0" err="1"/>
              <a:t>sizeof</a:t>
            </a:r>
            <a:r>
              <a:rPr lang="en-US" altLang="zh-CN" sz="1600" dirty="0"/>
              <a:t>(</a:t>
            </a:r>
            <a:r>
              <a:rPr lang="en-US" altLang="zh-CN" sz="1600" dirty="0" err="1"/>
              <a:t>AVCSliceInfo</a:t>
            </a:r>
            <a:r>
              <a:rPr lang="en-US" altLang="zh-CN" sz="1600" dirty="0"/>
              <a:t>) </a:t>
            </a:r>
            <a:r>
              <a:rPr lang="zh-CN" altLang="en-US" sz="1600" dirty="0"/>
              <a:t>是编译时常量，源 </a:t>
            </a:r>
            <a:r>
              <a:rPr lang="en-US" altLang="zh-CN" sz="1600" dirty="0" err="1"/>
              <a:t>n_state</a:t>
            </a:r>
            <a:r>
              <a:rPr lang="en-US" altLang="zh-CN" sz="1600" dirty="0"/>
              <a:t> </a:t>
            </a:r>
            <a:r>
              <a:rPr lang="zh-CN" altLang="en-US" sz="1600" dirty="0"/>
              <a:t>和目标 </a:t>
            </a:r>
            <a:r>
              <a:rPr lang="en-US" altLang="zh-CN" sz="1600" dirty="0" err="1"/>
              <a:t>avc</a:t>
            </a:r>
            <a:r>
              <a:rPr lang="en-US" altLang="zh-CN" sz="1600" dirty="0"/>
              <a:t>-&gt;</a:t>
            </a:r>
            <a:r>
              <a:rPr lang="en-US" altLang="zh-CN" sz="1600" dirty="0" err="1"/>
              <a:t>s_info</a:t>
            </a:r>
            <a:r>
              <a:rPr lang="zh-CN" altLang="en-US" sz="1600" dirty="0"/>
              <a:t>均为同类型</a:t>
            </a:r>
            <a:endParaRPr lang="en-US" altLang="zh-CN" sz="1600" dirty="0"/>
          </a:p>
          <a:p>
            <a:r>
              <a:rPr lang="zh-CN" altLang="en-US" sz="1600" dirty="0"/>
              <a:t>结构体，无变长数据、无可被用户控制的拷贝长度</a:t>
            </a:r>
            <a:r>
              <a:rPr lang="en-US" altLang="zh-CN" sz="1600" dirty="0"/>
              <a:t>——</a:t>
            </a:r>
            <a:r>
              <a:rPr lang="en-US" altLang="zh-CN" sz="1600" dirty="0" err="1"/>
              <a:t>memcpy</a:t>
            </a:r>
            <a:r>
              <a:rPr lang="en-US" altLang="zh-CN" sz="1600" dirty="0"/>
              <a:t> </a:t>
            </a:r>
            <a:r>
              <a:rPr lang="zh-CN" altLang="en-US" sz="1600" dirty="0"/>
              <a:t>本身不存在可利用的缓冲区溢出。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Agent3：盲区扫描器——只找漏洞，不判安全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640080" cy="32004"/>
          </a:xfrm>
          <a:prstGeom prst="rect">
            <a:avLst/>
          </a:prstGeom>
          <a:solidFill>
            <a:srgbClr val="2980B9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3840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Agent3 工作机制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3840480" cy="2926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>
              <a:lnSpc>
                <a:spcPct val="125000"/>
              </a:lnSpc>
              <a:spcAft>
                <a:spcPts val="400"/>
              </a:spcAft>
              <a:buSzPct val="100000"/>
            </a:pPr>
            <a:r>
              <a:rPr lang="en-US" sz="10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触发条件：仅当 Agent2 判 safe 或 uncertain 时触发——Agent2 已经确认漏洞的样本不需要 Agent3 再跑一遍</a:t>
            </a:r>
            <a:endParaRPr lang="en-US" sz="1000" dirty="0"/>
          </a:p>
          <a:p>
            <a:pPr>
              <a:lnSpc>
                <a:spcPct val="125000"/>
              </a:lnSpc>
              <a:spcAft>
                <a:spcPts val="400"/>
              </a:spcAft>
              <a:buSzPct val="100000"/>
            </a:pPr>
            <a:r>
              <a:rPr lang="en-US" sz="10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触发率：短函数 0% → 长函数约 20%，200 样本总计触发十几次，主要集中在 &gt;3000 字符的长函数中</a:t>
            </a:r>
            <a:endParaRPr lang="en-US" sz="1000" dirty="0"/>
          </a:p>
          <a:p>
            <a:pPr>
              <a:lnSpc>
                <a:spcPct val="125000"/>
              </a:lnSpc>
              <a:spcAft>
                <a:spcPts val="400"/>
              </a:spcAft>
              <a:buSzPct val="100000"/>
            </a:pPr>
            <a:r>
              <a:rPr lang="en-US" sz="10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核心原则：只找漏洞，不判安全——Agent3 发现了漏洞就补进最终结果，Agent3 没发现也不代表代码安全</a:t>
            </a:r>
            <a:endParaRPr lang="en-US" sz="1000" dirty="0"/>
          </a:p>
          <a:p>
            <a:pPr>
              <a:lnSpc>
                <a:spcPct val="125000"/>
              </a:lnSpc>
              <a:spcAft>
                <a:spcPts val="400"/>
              </a:spcAft>
              <a:buSzPct val="100000"/>
            </a:pPr>
            <a:r>
              <a:rPr lang="en-US" sz="10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与 Agent2 的关键区别：Agent3 独立运行，不受 Agent2 结论影响——它的 prompt 和 checklist 审计一样，但判断独立</a:t>
            </a:r>
            <a:endParaRPr lang="en-US" sz="1000" dirty="0"/>
          </a:p>
          <a:p>
            <a:pPr>
              <a:lnSpc>
                <a:spcPct val="125000"/>
              </a:lnSpc>
              <a:spcAft>
                <a:spcPts val="400"/>
              </a:spcAft>
              <a:buSzPct val="100000"/>
            </a:pPr>
            <a:r>
              <a:rPr lang="en-US" sz="10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设计意图：作为 Agent2 的安全网——Agent2 可能因为策略倾向（保守/激进）遗漏漏洞，Agent3 </a:t>
            </a:r>
            <a:r>
              <a:rPr lang="en-US" sz="1000" dirty="0" err="1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提供第二次独立检查</a:t>
            </a:r>
            <a:r>
              <a:rPr lang="zh-CN" altLang="en-US" sz="10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，而且</a:t>
            </a:r>
            <a:r>
              <a:rPr lang="en-US" altLang="zh-CN" sz="10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agent2</a:t>
            </a:r>
            <a:r>
              <a:rPr lang="zh-CN" altLang="en-US" sz="10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聚焦在具体窗口，</a:t>
            </a:r>
            <a:r>
              <a:rPr lang="en-US" altLang="zh-CN" sz="10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agent</a:t>
            </a:r>
            <a:r>
              <a:rPr lang="zh-CN" altLang="en-US" sz="10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会检查在具体窗口之外有无漏洞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663440" y="1417320"/>
            <a:ext cx="3840480" cy="2926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>
              <a:lnSpc>
                <a:spcPct val="125000"/>
              </a:lnSpc>
              <a:spcAft>
                <a:spcPts val="400"/>
              </a:spcAft>
              <a:buSzPct val="100000"/>
            </a:pPr>
            <a:r>
              <a:rPr lang="zh-CN" altLang="en-US" sz="1000" dirty="0"/>
              <a:t>在最终的</a:t>
            </a:r>
            <a:r>
              <a:rPr lang="en-US" altLang="zh-CN" sz="1000" dirty="0"/>
              <a:t>200</a:t>
            </a:r>
            <a:r>
              <a:rPr lang="zh-CN" altLang="en-US" sz="1000" dirty="0"/>
              <a:t>样本</a:t>
            </a:r>
            <a:r>
              <a:rPr lang="en-US" altLang="zh-CN" sz="1000" dirty="0" err="1"/>
              <a:t>primevul</a:t>
            </a:r>
            <a:r>
              <a:rPr lang="zh-CN" altLang="en-US" sz="1000" dirty="0"/>
              <a:t>中，有</a:t>
            </a:r>
            <a:r>
              <a:rPr lang="en-US" altLang="zh-CN" sz="1000" dirty="0"/>
              <a:t>19</a:t>
            </a:r>
            <a:r>
              <a:rPr lang="zh-CN" altLang="en-US" sz="1000" dirty="0"/>
              <a:t>个</a:t>
            </a:r>
            <a:r>
              <a:rPr lang="en-US" altLang="zh-CN" sz="1000" dirty="0"/>
              <a:t>sink</a:t>
            </a:r>
            <a:r>
              <a:rPr lang="zh-CN" altLang="en-US" sz="1000" dirty="0"/>
              <a:t>样本，其中</a:t>
            </a:r>
            <a:r>
              <a:rPr lang="en-US" altLang="zh-CN" sz="1000" dirty="0"/>
              <a:t>agent3</a:t>
            </a:r>
            <a:r>
              <a:rPr lang="zh-CN" altLang="en-US" sz="1000" dirty="0"/>
              <a:t>在这</a:t>
            </a:r>
            <a:r>
              <a:rPr lang="en-US" altLang="zh-CN" sz="1000" dirty="0"/>
              <a:t>19</a:t>
            </a:r>
            <a:r>
              <a:rPr lang="zh-CN" altLang="en-US" sz="1000" dirty="0"/>
              <a:t>次中被调用了</a:t>
            </a:r>
            <a:r>
              <a:rPr lang="en-US" altLang="zh-CN" sz="1000" dirty="0"/>
              <a:t>16</a:t>
            </a:r>
            <a:r>
              <a:rPr lang="zh-CN" altLang="en-US" sz="1000" dirty="0"/>
              <a:t>次，完成了一次翻案。约</a:t>
            </a:r>
            <a:r>
              <a:rPr lang="en-US" altLang="zh-CN" sz="1000" dirty="0"/>
              <a:t>5%</a:t>
            </a:r>
            <a:r>
              <a:rPr lang="zh-CN" altLang="en-US" sz="1000" dirty="0"/>
              <a:t>的翻案率。</a:t>
            </a:r>
            <a:endParaRPr lang="en-US" sz="1000"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1900794"/>
            <a:ext cx="4036540" cy="454496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后处理层：三个零 LLM 成本的校准模块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640080" cy="32004"/>
          </a:xfrm>
          <a:prstGeom prst="rect">
            <a:avLst/>
          </a:prstGeom>
          <a:solidFill>
            <a:srgbClr val="2980B9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640080" y="1097280"/>
            <a:ext cx="786384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640080" y="1097280"/>
            <a:ext cx="45720" cy="1051560"/>
          </a:xfrm>
          <a:prstGeom prst="rect">
            <a:avLst/>
          </a:prstGeom>
          <a:solidFill>
            <a:srgbClr val="C0392B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822960" y="1143000"/>
            <a:ext cx="2743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冲突仲裁器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1389888"/>
            <a:ext cx="749808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>
              <a:lnSpc>
                <a:spcPct val="120000"/>
              </a:lnSpc>
            </a:pPr>
            <a:r>
              <a:rPr lang="en-US" sz="9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A2 与 A3 结论不一致时触发。三条规则：① A3 在 A2 焦点窗口外发现具体问题 → A3 胜出（因为 A2 根本没看到那段代码）；② A3 推理模糊、A2 推理具体 → A2 胜出（模糊信号不能推翻明确判断）；③ 各有道理但针对不同区域 → 可同时成立，最终判漏洞。</a:t>
            </a:r>
            <a:r>
              <a:rPr lang="en-US" altLang="zh-CN" sz="9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A3 </a:t>
            </a:r>
            <a:r>
              <a:rPr lang="zh-CN" altLang="en-US" sz="9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在 </a:t>
            </a:r>
            <a:r>
              <a:rPr lang="en-US" altLang="zh-CN" sz="9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16/200 </a:t>
            </a:r>
            <a:r>
              <a:rPr lang="zh-CN" altLang="en-US" sz="9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个样本上输出了有效发现，其中 </a:t>
            </a:r>
            <a:r>
              <a:rPr lang="en-US" altLang="zh-CN" sz="9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 </a:t>
            </a:r>
            <a:r>
              <a:rPr lang="zh-CN" altLang="en-US" sz="9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次触发了冲突仲裁并成功翻案。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40080" y="2286000"/>
            <a:ext cx="786384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640080" y="2286000"/>
            <a:ext cx="45720" cy="1051560"/>
          </a:xfrm>
          <a:prstGeom prst="rect">
            <a:avLst/>
          </a:prstGeom>
          <a:solidFill>
            <a:srgbClr val="2980B9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822960" y="2331720"/>
            <a:ext cx="2743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980B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置信度校准器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2578608"/>
            <a:ext cx="749808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纯规则引擎，不调 LLM。校准规则：A2 和 A3 结论一致 → 置信度 +0.05~0.10；A3 独立发现盲区漏洞且证据充分 → +0.05~0.10；reasoning 中出现模糊措辞（“可能”/“或许”）→ -0.05~0.10；多工具达成共识 → +0.03。调节量都不大，主要防止单个过度自信的判断主导最终输出。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40080" y="3474720"/>
            <a:ext cx="786384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640080" y="3474720"/>
            <a:ext cx="45720" cy="1051560"/>
          </a:xfrm>
          <a:prstGeom prst="rect">
            <a:avLst/>
          </a:prstGeom>
          <a:solidFill>
            <a:srgbClr val="27AE60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822960" y="3520440"/>
            <a:ext cx="2743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7AE6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输出质量检查器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3767328"/>
            <a:ext cx="749808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最简单的模块，捕获三种异常输出：① 判了 vuln 但推理文本为空 → 直接把置信度压到很低（无理由的判断不可靠）；② 置信度极高但推理文本极短 → 纠正到一个合理值（过度自信通常意味着推理不充分）；③ 方法标注为 LLM 但置信度异常低 → 提到最低门槛（避免 LLM 在不该犹豫的时候犹豫）。三个检查串行执行，零额外 LLM 调用。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072" y="415110"/>
            <a:ext cx="4962525" cy="113347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634314" y="1787611"/>
            <a:ext cx="46461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冲突仲裁 </a:t>
            </a:r>
            <a:r>
              <a:rPr lang="en-US" altLang="zh-CN" dirty="0"/>
              <a:t> A2=</a:t>
            </a:r>
            <a:r>
              <a:rPr lang="en-US" altLang="zh-CN" dirty="0" err="1"/>
              <a:t>false_positive</a:t>
            </a:r>
            <a:r>
              <a:rPr lang="en-US" altLang="zh-CN" dirty="0"/>
              <a:t> vs A3=vuln </a:t>
            </a:r>
            <a:r>
              <a:rPr lang="zh-CN" altLang="en-US" dirty="0"/>
              <a:t>，</a:t>
            </a:r>
            <a:r>
              <a:rPr lang="en-US" altLang="zh-CN" dirty="0"/>
              <a:t>A3</a:t>
            </a:r>
            <a:r>
              <a:rPr lang="zh-CN" altLang="en-US" dirty="0"/>
              <a:t>在窗口外发现具体问题</a:t>
            </a:r>
            <a:r>
              <a:rPr lang="en-US" altLang="zh-CN" dirty="0"/>
              <a:t>,</a:t>
            </a:r>
            <a:r>
              <a:rPr lang="zh-CN" altLang="en-US" dirty="0"/>
              <a:t>判</a:t>
            </a:r>
            <a:r>
              <a:rPr lang="en-US" altLang="zh-CN" dirty="0"/>
              <a:t>A3</a:t>
            </a:r>
            <a:r>
              <a:rPr lang="zh-CN" altLang="en-US" dirty="0"/>
              <a:t>胜</a:t>
            </a:r>
          </a:p>
          <a:p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072" y="2693900"/>
            <a:ext cx="6124575" cy="1323975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0"/>
            <a:ext cx="10972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980B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四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1828800"/>
            <a:ext cx="7863840" cy="1645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消融实验：控制变量法</a:t>
            </a:r>
            <a:endParaRPr lang="en-US" sz="3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拆解每个组件的贡献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291840"/>
            <a:ext cx="7315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C9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30 样本分层抽样 × 5 种配置 × 5 项关键结论</a:t>
            </a:r>
            <a:endParaRPr lang="en-US" sz="13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消融实验结果：每次只改一个变量，其余与 V4 保持一致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640080" cy="32004"/>
          </a:xfrm>
          <a:prstGeom prst="rect">
            <a:avLst/>
          </a:prstGeom>
          <a:solidFill>
            <a:srgbClr val="2980B9"/>
          </a:solidFill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34" name="Table 0"/>
          <p:cNvGraphicFramePr>
            <a:graphicFrameLocks noGrp="1"/>
          </p:cNvGraphicFramePr>
          <p:nvPr/>
        </p:nvGraphicFramePr>
        <p:xfrm>
          <a:off x="640080" y="1188720"/>
          <a:ext cx="7863840" cy="2240280"/>
        </p:xfrm>
        <a:graphic>
          <a:graphicData uri="http://schemas.openxmlformats.org/drawingml/2006/table">
            <a:tbl>
              <a:tblPr/>
              <a:tblGrid>
                <a:gridCol w="1310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0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10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10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10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106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配置</a:t>
                      </a:r>
                      <a:endParaRPr lang="en-US" sz="9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F1</a:t>
                      </a:r>
                      <a:endParaRPr lang="en-US" sz="9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Precision</a:t>
                      </a:r>
                      <a:endParaRPr lang="en-US" sz="9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Recall</a:t>
                      </a:r>
                      <a:endParaRPr lang="en-US" sz="9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LLM调用</a:t>
                      </a:r>
                      <a:endParaRPr lang="en-US" sz="9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关键说明</a:t>
                      </a:r>
                      <a:endParaRPr lang="en-US" sz="9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5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基线：单次 LLM 调用</a:t>
                      </a:r>
                      <a:endParaRPr lang="en-US" sz="9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980B9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0.40</a:t>
                      </a:r>
                      <a:endParaRPr lang="en-US" sz="9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0.67</a:t>
                      </a:r>
                      <a:endParaRPr lang="en-US" sz="9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0.29</a:t>
                      </a:r>
                      <a:endParaRPr lang="en-US" sz="9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28</a:t>
                      </a:r>
                      <a:endParaRPr lang="en-US" sz="9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完整代码 + 清晰 prompt，已是不错的基线</a:t>
                      </a:r>
                      <a:endParaRPr lang="en-US" sz="9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V4 三层 Agent（完整）</a:t>
                      </a:r>
                      <a:endParaRPr lang="en-US" sz="9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980B9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0.62</a:t>
                      </a:r>
                      <a:endParaRPr lang="en-US" sz="9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0.67</a:t>
                      </a:r>
                      <a:endParaRPr lang="en-US" sz="9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0.57</a:t>
                      </a:r>
                      <a:endParaRPr lang="en-US" sz="9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67</a:t>
                      </a:r>
                      <a:endParaRPr lang="en-US" sz="9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+55% F1, ~3× token 消耗</a:t>
                      </a:r>
                      <a:endParaRPr lang="en-US" sz="9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V4 关闭 RAG</a:t>
                      </a:r>
                      <a:endParaRPr lang="en-US" sz="9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980B9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0.62</a:t>
                      </a:r>
                      <a:endParaRPr lang="en-US" sz="9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0.67</a:t>
                      </a:r>
                      <a:endParaRPr lang="en-US" sz="9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0.57</a:t>
                      </a:r>
                      <a:endParaRPr lang="en-US" sz="9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67</a:t>
                      </a:r>
                      <a:endParaRPr lang="en-US" sz="9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F1 完全不变 → RAG 零贡献</a:t>
                      </a:r>
                      <a:endParaRPr lang="en-US" sz="9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V4 多温度投票</a:t>
                      </a:r>
                      <a:endParaRPr lang="en-US" sz="9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980B9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0.62</a:t>
                      </a:r>
                      <a:endParaRPr lang="en-US" sz="9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0.67</a:t>
                      </a:r>
                      <a:endParaRPr lang="en-US" sz="9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0.57</a:t>
                      </a:r>
                      <a:endParaRPr lang="en-US" sz="9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89</a:t>
                      </a:r>
                      <a:endParaRPr lang="en-US" sz="9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调用 +33%，F1 无任何提升</a:t>
                      </a:r>
                      <a:endParaRPr lang="en-US" sz="9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单次调用 + 静态拦截</a:t>
                      </a:r>
                      <a:endParaRPr lang="en-US" sz="9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980B9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0.13</a:t>
                      </a:r>
                      <a:endParaRPr lang="en-US" sz="9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1.00</a:t>
                      </a:r>
                      <a:endParaRPr lang="en-US" sz="9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0.07</a:t>
                      </a:r>
                      <a:endParaRPr lang="en-US" sz="9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1</a:t>
                      </a:r>
                      <a:endParaRPr lang="en-US" sz="9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28 样本仅 1 次 LLM → 灾难性下降</a:t>
                      </a:r>
                      <a:endParaRPr lang="en-US" sz="9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3501024"/>
            <a:ext cx="7863840" cy="1253855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>
              <a:lnSpc>
                <a:spcPct val="125000"/>
              </a:lnSpc>
              <a:spcAft>
                <a:spcPts val="500"/>
              </a:spcAft>
              <a:buSzPct val="100000"/>
            </a:pPr>
            <a:r>
              <a:rPr lang="en-US" sz="10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三层 Agent 架构将 F1 从 0.40 提升到 0.62（+55%），在 200 样本完整评测中从约 0.67 提升到 0.77（+15%）</a:t>
            </a:r>
            <a:endParaRPr lang="en-US" sz="1000" dirty="0"/>
          </a:p>
          <a:p>
            <a:pPr>
              <a:lnSpc>
                <a:spcPct val="125000"/>
              </a:lnSpc>
              <a:spcAft>
                <a:spcPts val="500"/>
              </a:spcAft>
              <a:buSzPct val="100000"/>
            </a:pPr>
            <a:r>
              <a:rPr lang="en-US" sz="10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提升的真正来源：checklist 结构化审计 + 工具信号引导。代价：约 3 倍的 token 消耗——在生产环境中需要做成本效益权衡</a:t>
            </a:r>
            <a:endParaRPr lang="en-US" sz="1000" dirty="0"/>
          </a:p>
          <a:p>
            <a:pPr>
              <a:lnSpc>
                <a:spcPct val="125000"/>
              </a:lnSpc>
              <a:spcAft>
                <a:spcPts val="500"/>
              </a:spcAft>
              <a:buSzPct val="100000"/>
            </a:pPr>
            <a:r>
              <a:rPr lang="en-US" sz="10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静态拦截是最大的人为损害——F1 从 0.40 暴跌到 0.13，Precision 虽为 1.00 但 Recall 仅 0.07（几乎找不到任何漏洞）</a:t>
            </a:r>
            <a:endParaRPr lang="en-US" sz="1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消融结论 ①②：RAG 零贡献 + 静态拦截是最大损害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640080" cy="32004"/>
          </a:xfrm>
          <a:prstGeom prst="rect">
            <a:avLst/>
          </a:prstGeom>
          <a:solidFill>
            <a:srgbClr val="2980B9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640080" y="1097280"/>
            <a:ext cx="786384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640080" y="1097280"/>
            <a:ext cx="45720" cy="1554480"/>
          </a:xfrm>
          <a:prstGeom prst="rect">
            <a:avLst/>
          </a:prstGeom>
          <a:solidFill>
            <a:srgbClr val="C0392B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822960" y="1143000"/>
            <a:ext cx="74980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392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① RAG 零贡献——完整管线搭建完毕但毫无作用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1463040"/>
            <a:ext cx="7498080" cy="10515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>
              <a:lnSpc>
                <a:spcPct val="125000"/>
              </a:lnSpc>
              <a:spcAft>
                <a:spcPts val="400"/>
              </a:spcAft>
              <a:buSzPct val="100000"/>
            </a:pPr>
            <a:r>
              <a:rPr lang="en-US" sz="9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搭建的完整 RAG 管线：SiliconFlow bge-m3 免费嵌入（1024 维）→ ChromaDB 向量库（NVD 25 万条 + CISA KEV 1647 条 = 5.9 万文档）</a:t>
            </a:r>
            <a:endParaRPr lang="en-US" sz="900" dirty="0"/>
          </a:p>
          <a:p>
            <a:pPr>
              <a:lnSpc>
                <a:spcPct val="125000"/>
              </a:lnSpc>
              <a:spcAft>
                <a:spcPts val="400"/>
              </a:spcAft>
              <a:buSzPct val="100000"/>
            </a:pPr>
            <a:r>
              <a:rPr lang="en-US" sz="9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关闭 RAG 后：200 样本 F1 完全不变；30 样本上 V4 与 V4 关闭 RAG 差距在噪声范围内——RAG 的贡献为零</a:t>
            </a:r>
            <a:endParaRPr lang="en-US" sz="900" dirty="0"/>
          </a:p>
          <a:p>
            <a:pPr>
              <a:lnSpc>
                <a:spcPct val="125000"/>
              </a:lnSpc>
              <a:spcAft>
                <a:spcPts val="400"/>
              </a:spcAft>
              <a:buSzPct val="100000"/>
            </a:pPr>
            <a:r>
              <a:rPr lang="en-US" sz="9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根因：CVE 元数据描述的是漏洞影响（“可能导致远程代码执行”），不含代码模式；bge-m3 </a:t>
            </a:r>
            <a:r>
              <a:rPr lang="en-US" sz="900" dirty="0" err="1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是通用文本嵌入，在代码和漏洞描述之间匹配失败</a:t>
            </a:r>
            <a:endParaRPr lang="en-US" sz="900" dirty="0">
              <a:solidFill>
                <a:srgbClr val="1A1A2E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</a:endParaRPr>
          </a:p>
          <a:p>
            <a:pPr>
              <a:lnSpc>
                <a:spcPct val="125000"/>
              </a:lnSpc>
              <a:spcAft>
                <a:spcPts val="400"/>
              </a:spcAft>
              <a:buSzPct val="100000"/>
            </a:pP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40080" y="2834640"/>
            <a:ext cx="786384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640080" y="2834640"/>
            <a:ext cx="45720" cy="1554480"/>
          </a:xfrm>
          <a:prstGeom prst="rect">
            <a:avLst/>
          </a:prstGeom>
          <a:solidFill>
            <a:srgbClr val="C0392B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822960" y="2880360"/>
            <a:ext cx="74980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392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② 静态拦截是最大的人为损害——不是性能差，是架构把主角拦在门外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3200400"/>
            <a:ext cx="7498080" cy="10515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>
              <a:lnSpc>
                <a:spcPct val="125000"/>
              </a:lnSpc>
              <a:spcAft>
                <a:spcPts val="400"/>
              </a:spcAft>
              <a:buSzPct val="100000"/>
            </a:pPr>
            <a:r>
              <a:rPr lang="en-US" sz="9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打开 no_sink=safe 后：F1 从 0.40 直接降到 0.13，28 个样本只调用了一次 LLM——其余 27 个在静态层被拦截，占 96%</a:t>
            </a:r>
            <a:endParaRPr lang="en-US" sz="900" dirty="0"/>
          </a:p>
          <a:p>
            <a:pPr>
              <a:lnSpc>
                <a:spcPct val="125000"/>
              </a:lnSpc>
              <a:spcAft>
                <a:spcPts val="400"/>
              </a:spcAft>
              <a:buSzPct val="100000"/>
            </a:pPr>
            <a:r>
              <a:rPr lang="en-US" sz="9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静态层把 90% 的无 sink 样本全部判为安全 → LLM 根本没有上场机会 → TP 被系统性漏掉 → Recall 跌到 0.07</a:t>
            </a:r>
            <a:endParaRPr lang="en-US" sz="900" dirty="0"/>
          </a:p>
          <a:p>
            <a:pPr>
              <a:lnSpc>
                <a:spcPct val="125000"/>
              </a:lnSpc>
              <a:spcAft>
                <a:spcPts val="400"/>
              </a:spcAft>
              <a:buSzPct val="100000"/>
            </a:pPr>
            <a:r>
              <a:rPr lang="en-US" sz="9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启示：在 LLM-based 管道中，任何硬拦截都是危险的。静态工具应该提供信号而非判决。哪怕 LLM 的判断不完美，也比一刀切的静态规则好得多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消融结论 ③④⑤：多温度无效 + 单次是强基线 + A3 架空 A2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640080" cy="32004"/>
          </a:xfrm>
          <a:prstGeom prst="rect">
            <a:avLst/>
          </a:prstGeom>
          <a:solidFill>
            <a:srgbClr val="2980B9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640080" y="1097280"/>
            <a:ext cx="786384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640080" y="1097280"/>
            <a:ext cx="45720" cy="1051560"/>
          </a:xfrm>
          <a:prstGeom prst="rect">
            <a:avLst/>
          </a:prstGeom>
          <a:solidFill>
            <a:srgbClr val="E67E22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822960" y="1143000"/>
            <a:ext cx="74980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7E2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③ 多温度投票换不来提升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1399032"/>
            <a:ext cx="749808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三个温度（0.0, 0.3, 0.7）加权投票，F1 与单次 Agent2 调用完全持平，但 LLM 调用次数多了三分之一（89 vs 67）。结论：DeepSeek V4 Flash 在不同温度下的输出差异不足以产生有效的推理多样性——温度变化带来的随机性被证明对漏洞检测任务无效。保留为可配置选项但不推荐默认使用。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40080" y="2286000"/>
            <a:ext cx="786384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640080" y="2286000"/>
            <a:ext cx="45720" cy="1051560"/>
          </a:xfrm>
          <a:prstGeom prst="rect">
            <a:avLst/>
          </a:prstGeom>
          <a:solidFill>
            <a:srgbClr val="2980B9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822960" y="2331720"/>
            <a:ext cx="74980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980B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④ 单次 LLM 调用就是强基线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2587752"/>
            <a:ext cx="749808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完整代码 + 清晰 prompt 就能达到 F1=0.40——这个成绩已经超过所有带静态拦截的配置（V2/V3 的 0.00）。三层 Agent 架构在此基础上提升 55% → F1=0.62，200 样本完整评测从约 0.67 提升到 0.77。提升来自 checklist 结构化审计（让 LLM 逐项填表）和工具信号引导（告诉 LLM 重点看哪里），代价是约 3 倍 token。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40080" y="3474720"/>
            <a:ext cx="786384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640080" y="3474720"/>
            <a:ext cx="45720" cy="1051560"/>
          </a:xfrm>
          <a:prstGeom prst="rect">
            <a:avLst/>
          </a:prstGeom>
          <a:solidFill>
            <a:srgbClr val="E67E22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822960" y="3520440"/>
            <a:ext cx="74980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7E2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⑤ A3 盲区扫描器 + 仲裁在架空 Agent2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3776472"/>
            <a:ext cx="749808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Agent2 判安全 → A3 重新扫描 → 找到 Agent2 遗漏的漏洞 → 仲裁器推翻 A2 结论。Agent2 的保守/激进倾向被 A3 完全覆盖，最终判决由 A3 主导。这暗示 Agent 链中后期 Agent 可能 “覆盖” 而非 “协作” 前期 Agent 的判决——多层 Agent 未必产生互补效应，可能只是后面的覆盖前面的。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0"/>
            <a:ext cx="10972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980B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五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1828800"/>
            <a:ext cx="7863840" cy="1645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局限性与坦诚讨论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291840"/>
            <a:ext cx="7315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C9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哪些地方做得不够好，以及为什么。学术诚信：必须说清楚方案的边界</a:t>
            </a:r>
            <a:endParaRPr lang="en-US" sz="13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3365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3365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3365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795"/>
            <a:ext cx="9144000" cy="5121275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项目迭代历程：四个版本的关键转变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640080" cy="32004"/>
          </a:xfrm>
          <a:prstGeom prst="rect">
            <a:avLst/>
          </a:prstGeom>
          <a:solidFill>
            <a:srgbClr val="2980B9"/>
          </a:solidFill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41" name="Table 0"/>
          <p:cNvGraphicFramePr>
            <a:graphicFrameLocks noGrp="1"/>
          </p:cNvGraphicFramePr>
          <p:nvPr/>
        </p:nvGraphicFramePr>
        <p:xfrm>
          <a:off x="640080" y="1188720"/>
          <a:ext cx="7863840" cy="1737360"/>
        </p:xfrm>
        <a:graphic>
          <a:graphicData uri="http://schemas.openxmlformats.org/drawingml/2006/table">
            <a:tbl>
              <a:tblPr/>
              <a:tblGrid>
                <a:gridCol w="15727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27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727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727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727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版本</a:t>
                      </a:r>
                      <a:endParaRPr lang="en-US" sz="9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核心架构</a:t>
                      </a:r>
                      <a:endParaRPr lang="en-US" sz="9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关键问题</a:t>
                      </a:r>
                      <a:endParaRPr lang="en-US" sz="9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F1 (BigVul 30)</a:t>
                      </a:r>
                      <a:endParaRPr lang="en-US" sz="9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教训</a:t>
                      </a:r>
                      <a:endParaRPr lang="en-US" sz="9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5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V1 初始版</a:t>
                      </a:r>
                      <a:endParaRPr lang="en-US" sz="9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980B9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sink注册表 + 四优化层</a:t>
                      </a:r>
                      <a:endParaRPr lang="en-US" sz="9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过拟合 59 样本，三层优化全部失效</a:t>
                      </a:r>
                      <a:endParaRPr lang="en-US" sz="9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0.629</a:t>
                      </a:r>
                      <a:endParaRPr lang="en-US" sz="9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不要堆砌，不要在测试集上写规则</a:t>
                      </a:r>
                      <a:endParaRPr lang="en-US" sz="9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V2 模块化</a:t>
                      </a:r>
                      <a:endParaRPr lang="en-US" sz="9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980B9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OLlama→GLM，四种策略模式</a:t>
                      </a:r>
                      <a:endParaRPr lang="en-US" sz="9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LLM 层层杀 TP，静态拦截 F1=0</a:t>
                      </a:r>
                      <a:endParaRPr lang="en-US" sz="9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0.080</a:t>
                      </a:r>
                      <a:endParaRPr lang="en-US" sz="9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LLM 只削误报不增 TP，Agent 不能串行审批</a:t>
                      </a:r>
                      <a:endParaRPr lang="en-US" sz="9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V3 调整参数</a:t>
                      </a:r>
                      <a:endParaRPr lang="en-US" sz="9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980B9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放宽静态拦截 + 多温度</a:t>
                      </a:r>
                      <a:endParaRPr lang="en-US" sz="9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三把锁仍锁死，LLM 零次运行</a:t>
                      </a:r>
                      <a:endParaRPr lang="en-US" sz="9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0.077</a:t>
                      </a:r>
                      <a:endParaRPr lang="en-US" sz="9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静态拦截是最大损害，LLM 必须看所有样本</a:t>
                      </a:r>
                      <a:endParaRPr lang="en-US" sz="9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V4 工具感知链</a:t>
                      </a:r>
                      <a:endParaRPr lang="en-US" sz="9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980B9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三工具 + 三Agent + 后处理</a:t>
                      </a:r>
                      <a:endParaRPr lang="en-US" sz="9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RAG 零贡献，A3 架空 A2</a:t>
                      </a:r>
                      <a:endParaRPr lang="en-US" sz="9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0.620</a:t>
                      </a:r>
                      <a:endParaRPr lang="en-US" sz="9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Checklist + 工具信号 = 真正的提升来源</a:t>
                      </a:r>
                      <a:endParaRPr lang="en-US" sz="9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3246120"/>
            <a:ext cx="7863840" cy="15087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>
              <a:lnSpc>
                <a:spcPct val="125000"/>
              </a:lnSpc>
              <a:spcAft>
                <a:spcPts val="500"/>
              </a:spcAft>
              <a:buSzPct val="100000"/>
            </a:pPr>
            <a:r>
              <a:rPr lang="en-US" sz="10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从 V1 到 V4，核心转变：盲目堆砌 → 模块拆解 → 放权 LLM → 工具感知——每个版本的失败都直接决定了下一版的设计方向</a:t>
            </a:r>
            <a:endParaRPr lang="en-US" sz="1000" dirty="0"/>
          </a:p>
          <a:p>
            <a:pPr>
              <a:lnSpc>
                <a:spcPct val="125000"/>
              </a:lnSpc>
              <a:spcAft>
                <a:spcPts val="500"/>
              </a:spcAft>
              <a:buSzPct val="100000"/>
            </a:pPr>
            <a:r>
              <a:rPr lang="en-US" sz="10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V4 相比 V1 的 F1 提升有限（0.629 vs 0.620），但 V1 的 0.629 是过拟合的假象，V4 的 0.620 是真正可泛化的性能</a:t>
            </a:r>
            <a:endParaRPr lang="en-US" sz="1000" dirty="0"/>
          </a:p>
          <a:p>
            <a:pPr>
              <a:lnSpc>
                <a:spcPct val="125000"/>
              </a:lnSpc>
              <a:spcAft>
                <a:spcPts val="500"/>
              </a:spcAft>
              <a:buSzPct val="100000"/>
            </a:pPr>
            <a:r>
              <a:rPr lang="en-US" sz="10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最终 200 样本 PrimeVul F1=0.77 证明了架构的有效性——零样本条件下超越微调基线</a:t>
            </a:r>
            <a:endParaRPr lang="en-US" sz="10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2743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980B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总结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786384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从盲目堆砌到工具感知：</a:t>
            </a:r>
            <a:endParaRPr lang="en-US" sz="26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每个版本的失败都在教我们下一步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2468880"/>
            <a:ext cx="2560320" cy="1143000"/>
          </a:xfrm>
          <a:prstGeom prst="roundRect">
            <a:avLst>
              <a:gd name="adj" fmla="val 6400"/>
            </a:avLst>
          </a:prstGeom>
          <a:solidFill>
            <a:srgbClr val="1A2D45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777240" y="2560320"/>
            <a:ext cx="2286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0392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不堆砌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926080"/>
            <a:ext cx="22860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B7C9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四个优化层 → 模块化拆解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B7C9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每个组件独立验证有效性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B7C9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只保留经过消融证明的模块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474720" y="2468880"/>
            <a:ext cx="2560320" cy="1143000"/>
          </a:xfrm>
          <a:prstGeom prst="roundRect">
            <a:avLst>
              <a:gd name="adj" fmla="val 6400"/>
            </a:avLst>
          </a:prstGeom>
          <a:solidFill>
            <a:srgbClr val="1A2D45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3611880" y="2560320"/>
            <a:ext cx="2286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67E2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不拦截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611880" y="2926080"/>
            <a:ext cx="22860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B7C9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静态拦截 F1=0 → 完全放权 LLM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B7C9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静态分析只提供信号不做判决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B7C9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架构不能让主角站在门外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309360" y="2468880"/>
            <a:ext cx="2560320" cy="1143000"/>
          </a:xfrm>
          <a:prstGeom prst="roundRect">
            <a:avLst>
              <a:gd name="adj" fmla="val 6400"/>
            </a:avLst>
          </a:prstGeom>
          <a:solidFill>
            <a:srgbClr val="1A2D45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6446520" y="2560320"/>
            <a:ext cx="2286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7AE6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不猜测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46520" y="2926080"/>
            <a:ext cx="22860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B7C9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通用 prompt → 六类 checklist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B7C9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逐项填表，消除 LLM 的模糊空间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B7C9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从 “可能” 到 “是/否+行号”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40080" y="3886200"/>
            <a:ext cx="54864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980B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PrimeVul F1 = 0.77，零样本，超越微调基线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0080" y="4434840"/>
            <a:ext cx="78638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B7C9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谢谢！请各位老师批评指正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4513</Words>
  <Application>Microsoft Office PowerPoint</Application>
  <PresentationFormat>全屏显示(16:9)</PresentationFormat>
  <Paragraphs>491</Paragraphs>
  <Slides>50</Slides>
  <Notes>32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50</vt:i4>
      </vt:variant>
    </vt:vector>
  </HeadingPairs>
  <TitlesOfParts>
    <vt:vector size="56" baseType="lpstr">
      <vt:lpstr>Arial</vt:lpstr>
      <vt:lpstr>Cambria</vt:lpstr>
      <vt:lpstr>Courier New</vt:lpstr>
      <vt:lpstr>Open Sans</vt:lpstr>
      <vt:lpstr>Office Theme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基于大语言模型的应用安全审计技术</dc:title>
  <dc:subject>PptxGenJS Presentation</dc:subject>
  <dc:creator>Code Audit Team</dc:creator>
  <cp:lastModifiedBy>昕晨 刘</cp:lastModifiedBy>
  <cp:revision>16</cp:revision>
  <dcterms:created xsi:type="dcterms:W3CDTF">2026-07-22T05:42:00Z</dcterms:created>
  <dcterms:modified xsi:type="dcterms:W3CDTF">2026-07-23T15:26:22Z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C536D7C3A6314C7DA63B690DF3C5D455_13</vt:lpwstr>
  </property>
</Properties>
</file>