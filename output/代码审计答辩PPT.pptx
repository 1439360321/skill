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3167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基于大语言模型的应用安全审计技术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2846070"/>
            <a:ext cx="3657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02895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零样本 · 无微调 · 静态分析 + LLM 多Agent协同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核心成绩与学术对比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Sink过拟合与优化层失效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模块化发现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520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V4 三级Agent + 工具感知链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消融实验与局限性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核心成绩：PrimeVul 200样本分层测试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2344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45160000" dist="322580000" dir="972000000000">
              <a:srgbClr val="000000">
                <a:alpha val="150000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46888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193532000000" dist="4096766000000" dir="58320000000000000">
              <a:srgbClr val="000000">
                <a:alpha val="15000000000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6060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4057856400000000" dist="52028928200000000" dir="3.4992e+21">
              <a:srgbClr val="000000">
                <a:alpha val="1500000000000000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688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零样本、纯代码输入条件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0.8356  |  PR-AUC = 0.7515</a:t>
            </a:r>
            <a:endParaRPr lang="en-US" sz="1200" dirty="0"/>
          </a:p>
        </p:txBody>
      </p:sp>
      <p:pic>
        <p:nvPicPr>
          <p:cNvPr id="16" name="Image 0" descr="C:\Users\WZP\AppData\Roaming\TRAE SOLO CN\ModularData\ai-agent\work-mode-projects\6a4c72e802e1a77e70838fdb\assets\img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45720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学术对比：超越微调基线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academic_comparison_1200x6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234440"/>
            <a:ext cx="64008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零样本纯代码输入条件下，F1 = 0.77 超过 CodeBERT (0.21) 和 LLMxCPG (0.65)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核心成绩汇总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PrimeVul 细分结果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53477628e+21" dist="660767388140000000000" dir="2.09952e+26">
              <a:srgbClr val="000000">
                <a:alpha val="1.5e+2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有Sink样本 (19个)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0.88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0.90    R = 0.85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3491658756e+25" dist="8.391745829378e+24" dir="1.259712e+31">
              <a:srgbClr val="000000">
                <a:alpha val="1.5e+29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无Sink样本 (181个)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0.74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0.76    R = 0.73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无Sink样本占90.5%，是整体性能的主要驱动因素</a:t>
            </a:r>
            <a:endParaRPr lang="en-US" sz="1300" dirty="0"/>
          </a:p>
        </p:txBody>
      </p:sp>
      <p:pic>
        <p:nvPicPr>
          <p:cNvPr id="12" name="Image 0" descr="C:\Users\WZP\AppData\Roaming\TRAE SOLO CN\ModularData\ai-agent\work-mode-projects\6a4c72e802e1a77e70838fdb\assets\img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374904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BigVul Clean 数据集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15034406620118e+29" dist="1.0657517203310059e+29" dir="7.558272e+35">
              <a:srgbClr val="000000">
                <a:alpha val="1.4999999999999999e+3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234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07009369640755e+33" dist="1.3535046848203775e+33" dir="4.5349632e+40">
              <a:srgbClr val="000000">
                <a:alpha val="1.5e+39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46888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46888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37901899443759e+37" dist="1.7189509497218795e+37" dir="2.72097792e+45">
              <a:srgbClr val="000000">
                <a:alpha val="1.5e+44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514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6135412293574e+41" dist="2.183067706146787e+41" dir="1.632586752e+50">
              <a:srgbClr val="000000">
                <a:alpha val="1.4999999999999999e+49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标签噪声率约75%，F1=0.67 可能已接近数据集理论上限</a:t>
            </a:r>
            <a:endParaRPr lang="en-US" sz="1100" dirty="0"/>
          </a:p>
        </p:txBody>
      </p:sp>
      <p:pic>
        <p:nvPicPr>
          <p:cNvPr id="16" name="Image 0" descr="C:\Users\WZP\AppData\Roaming\TRAE SOLO CN\ModularData\ai-agent\work-mode-projects\6a4c72e802e1a77e70838fdb\assets\img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457200"/>
            <a:ext cx="4297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BigVul 混淆矩阵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 工具感知链 200样本评测汇总</a:t>
            </a:r>
            <a:endParaRPr lang="en-US" sz="2400" dirty="0"/>
          </a:p>
        </p:txBody>
      </p:sp>
      <p:pic>
        <p:nvPicPr>
          <p:cNvPr id="3" name="Image 0" descr="C:\Users\WZP\AppData\Roaming\TRAE SOLO CN\ModularData\ai-agent\work-mode-projects\6a4c72e802e1a77e70838fdb\assets\csv_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混淆矩阵与方法路由分布</a:t>
            </a:r>
            <a:endParaRPr lang="en-US" sz="2400" dirty="0"/>
          </a:p>
        </p:txBody>
      </p:sp>
      <p:pic>
        <p:nvPicPr>
          <p:cNvPr id="3" name="Image 0" descr="C:\Users\WZP\AppData\Roaming\TRAE SOLO CN\ModularData\ai-agent\work-mode-projects\6a4c72e802e1a77e70838fdb\assets\csv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Juliet 数据集验证：跨数据集泛化能力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Juliet 测试集 30 样本（15 有漏洞 / 15 安全），工具感知链 F1 = 0.6829</a:t>
            </a:r>
            <a:endParaRPr lang="en-US" sz="1400" dirty="0"/>
          </a:p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证明架构在不同类型测试集上具有良好的泛化能力</a:t>
            </a:r>
            <a:endParaRPr lang="en-US" sz="1400" dirty="0"/>
          </a:p>
        </p:txBody>
      </p:sp>
      <p:pic>
        <p:nvPicPr>
          <p:cNvPr id="4" name="Image 0" descr="C:\Users\WZP\AppData\Roaming\TRAE SOLO CN\ModularData\ai-agent\work-mode-projects\6a4c72e802e1a77e70838fdb\assets\img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92024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spc="25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起点：Sink注册表的过拟合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118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与四个优化层的失效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初始框架搭建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371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AST：多语言解析，构建代码抽象语法树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Sink注册表：13类C/C++漏洞的危险函数模式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651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LLM：本地部署，对代码切片做漏洞推理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.544991973612839e+45" dist="2.7724959868064195e+45" dir="9.795520512e+54">
              <a:srgbClr val="000000">
                <a:alpha val="1.4999999999999998e+54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0" y="2057400"/>
            <a:ext cx="274320" cy="32004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0" y="24231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.042139806488305e+49" dist="3.5210699032441527e+49" dir="5.8773123072e+59">
              <a:srgbClr val="000000">
                <a:alpha val="1.4999999999999998e+59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0" y="2423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Sink注册表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3154680"/>
            <a:ext cx="274320" cy="32004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86400" y="35204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.943517554240149e+53" dist="4.471758777120074e+53" dir="3.52638738432e+64">
              <a:srgbClr val="000000">
                <a:alpha val="1.4999999999999998e+64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0" y="3520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系统界面：多 LLM 接入支持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GLM-4.6v（智谱AI）、DeepSeek V4 Flash、Ollama 本地部署三种接入方式</a:t>
            </a:r>
            <a:endParaRPr lang="en-US" sz="1400" dirty="0"/>
          </a:p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通过 .env 文件加载，不会提交到 Git</a:t>
            </a:r>
            <a:endParaRPr lang="en-US" sz="1400" dirty="0"/>
          </a:p>
        </p:txBody>
      </p:sp>
      <p:pic>
        <p:nvPicPr>
          <p:cNvPr id="4" name="Image 0" descr="C:\Users\WZP\AppData\Roaming\TRAE SOLO CN\ModularData\ai-agent\work-mode-projects\6a4c72e802e1a77e70838fdb\assets\img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8229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方法论坦诚：Sink注册表的数据泄漏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358267293884988e+58" dist="5.679133646942494e+57" dir="2.115832430592e+69">
              <a:srgbClr val="000000">
                <a:alpha val="1.4999999999999997e+69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问题：sink注册表在一个早期的自建测试集上编写和调优，直接在测试样本上观察哪些函数出现频繁、哪些和漏洞标注关联，然后加入注册表。这本质上是在那个早期测试集上'训练'了sink规则。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424999463233936e+62" dist="7.212499731616968e+61" dir="1.2694994583552e+74">
              <a:srgbClr val="000000">
                <a:alpha val="1.4999999999999997e+74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697480"/>
            <a:ext cx="54864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辩护：sink函数本身是通用编程知识。strcpy危险、system可注入、memmove可能越界——这些跟具体数据集无关，是语言层面的固有属性。泄漏的影响是'初始方向性的而非持续性的'。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后续所有正式评测使用 PrimeVul 和 BigVul，与编写 sink 规则的数据集完全独立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四个"优化层"的叠加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.83197493183071e+66" dist="9.15987465915355e+65" dir="7.6169967501312e+78">
              <a:srgbClr val="000000">
                <a:alpha val="1.5e+79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5087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数据流追踪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Source→Sink路径分析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130552"/>
            <a:ext cx="274320" cy="22860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606040" y="123444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2.3266081634250016e+70" dist="1.1633040817125008e+70" dir="4.57019805007872e+83">
              <a:srgbClr val="000000">
                <a:alpha val="1.4999999999999998e+84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97480" y="15087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Sanitization检测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22402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13个漏洞类别正则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30552"/>
            <a:ext cx="274320" cy="22860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123444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2.954792367549752e+74" dist="1.477396183774876e+74" dir="2.742118830047232e+88">
              <a:srgbClr val="000000">
                <a:alpha val="1.4999999999999998e+89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46320" y="15087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三阶段LLM推理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2402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筛查→深度分析→自检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130552"/>
            <a:ext cx="274320" cy="22860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03720" y="1234440"/>
            <a:ext cx="1783080" cy="20116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3.752586306788185e+78" dist="1.8762931533940924e+78" dir="1.6452712980283393e+93">
              <a:srgbClr val="000000">
                <a:alpha val="1.4999999999999998e+94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95160" y="15087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RAG知识库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2402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BigVul案例检索增强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优化层失效 ①：数据流追踪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做成硬过滤器——没有数据流路径就直接判安全。函数参数天然就是外部输入，分析几乎总能连上，硬过滤区分度极差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砍掉了 17 个包含真漏洞的代码切片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函数参数天然就是外部输入来源，数据流分析几乎总能连上，导致硬过滤条件区分度极差。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417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274320" cy="18288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303520" y="2103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0352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2560320"/>
            <a:ext cx="274320" cy="18288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303520" y="27889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0352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5528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优化层失效 ②：Sanitization正则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765784609620995e+82" dist="2.3828923048104974e+82" dir="9.871627788170035e+97">
              <a:srgbClr val="000000">
                <a:alpha val="1.4999999999999998e+99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理想代码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(len &gt; MAX) return;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344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052546454218663e+86" dist="3.0262732271093317e+86" dir="5.922976672902021e+102">
              <a:srgbClr val="000000">
                <a:alpha val="1.5e+104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真实代码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#ifdef DEBUG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(check_len(buf, sz))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handle_safe(buf);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10个正则6个匹配不上；sizeof对变长指针不提供保护，strncpy不保证空终止。代码里检测到sanitization不代表真的做到了充分防护。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优化层失效 ③④：三阶段LLM 与 59样本过拟合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三阶段LLM对F1贡献仅 +0.0011（0.8657→0.8768）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8B: 40-120秒/文件，完全不可扩展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0" y="12344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7.6867339968577025e+90" dist="3.8433669984288512e+90" dir="3.5537860037412126e+107">
              <a:srgbClr val="000000">
                <a:alpha val="1.4999999999999999e+109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983480" y="150876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59样本 F1 &gt; 0.9 是过拟合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spc="10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数据集太小，没有区分度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762152176009283e+94" dist="4.8810760880046414e+94" dir="2.1322716022447277e+112">
              <a:srgbClr val="000000">
                <a:alpha val="1.4999999999999997e+114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3337560"/>
            <a:ext cx="54864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337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正确判断：LLM的角色是"发现"而不是"验证"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关键教训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397933263531789e+99" dist="6.198966631765894e+98" dir="1.2793629613468367e+117">
              <a:srgbClr val="000000">
                <a:alpha val="1.4999999999999998e+119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417320"/>
            <a:ext cx="73152" cy="2286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i="1" spc="1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"LLM 的正确角色是'发现'而不是'验证'——应该弥补静态工具的盲区：逻辑漏洞、UAF、竞态条件，而不是重新发明静态工具已经做好的事。"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3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Phase 1 实验总结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spc="25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模块化：发现LLM层层杀TP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118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与静态拦截问题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模块化架构拆分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417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静态决策层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63240" y="2011680"/>
            <a:ext cx="274320" cy="22860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2D3A7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2860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代码窗口层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63240" y="2880360"/>
            <a:ext cx="274320" cy="22860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4400" y="31546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3C4D9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54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LLM策略层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63240" y="3749040"/>
            <a:ext cx="274320" cy="22860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14400" y="402336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4B60A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023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后处理层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16916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从Ollama R1切换</a:t>
            </a:r>
            <a:endParaRPr lang="en-US" sz="1300" dirty="0"/>
          </a:p>
          <a:p>
            <a:pPr indent="0" marL="0">
              <a:buNone/>
            </a:pPr>
            <a:r>
              <a:rPr lang="en-US" sz="13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到云端GLM-4.6V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四种LLM策略模式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.574537524468537e+103" dist="7.872687622342685e+102" dir="7.67617776808102e+121">
              <a:srgbClr val="000000">
                <a:alpha val="1.4999999999999997e+12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63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模式一：单次推理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一次LLM调用，直接输出结构化判断</a:t>
            </a:r>
            <a:endParaRPr lang="en-US" sz="1200" dirty="0"/>
          </a:p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token消耗最低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3258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.9996626560750422e+107" dist="9.998313280375211e+106" dir="4.605706660848612e+126">
              <a:srgbClr val="000000">
                <a:alpha val="1.4999999999999998e+129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92040" y="1463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模式二：三级Agent链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8745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A1筛查→A2复审→A3盲区扫描</a:t>
            </a:r>
            <a:endParaRPr lang="en-US" sz="1200" dirty="0"/>
          </a:p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结构化推理流程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2.5395715732153033e+111" dist="1.2697857866076517e+111" dir="2.763423996509167e+131">
              <a:srgbClr val="000000">
                <a:alpha val="1.4999999999999998e+134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模式三：多温度投票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温度0.0/0.3/0.7加权投票</a:t>
            </a:r>
            <a:endParaRPr lang="en-US" sz="1200" dirty="0"/>
          </a:p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利用推理多样性降低误判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0632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31750">
            <a:solidFill>
              <a:srgbClr val="E74C3C"/>
            </a:solidFill>
            <a:prstDash val="solid"/>
          </a:ln>
          <a:effectLst>
            <a:outerShdw sx="100000" sy="100000" kx="0" ky="0" algn="bl" rotWithShape="0" blurRad="3.2252558979834354e+115" dist="1.6126279489917177e+115" dir="1.6580543979055003e+136">
              <a:srgbClr val="000000">
                <a:alpha val="1.4999999999999997e+139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模式四：工具感知链 ← 最终采用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3611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整合静态工具报告+RAG+多Agent</a:t>
            </a:r>
            <a:endParaRPr lang="en-US" sz="1200" dirty="0"/>
          </a:p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深度协同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核心矛盾：LLM层层杀TP，不增TP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的每一步审查都在削减TP（真阳性），而非发现新的TP。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最终10~19个TP是从初始24个中"幸存"下来的，而非新增。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0" y="13258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静态工具: 24 TP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06440" y="18745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D3A7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064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Agent1 CoT: -5~6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4231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3C4D9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12648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 复审: -3~8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29718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4652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最终: 10~19 TP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BigVul V1 vs V2 对比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PrimeVul vs BigVul 对比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反直觉发现：代码窗口越短越好？</a:t>
            </a:r>
            <a:endParaRPr lang="en-US" sz="2400" dirty="0"/>
          </a:p>
        </p:txBody>
      </p:sp>
      <p:pic>
        <p:nvPicPr>
          <p:cNvPr id="3" name="Image 0" descr="C:\Users\WZP\AppData\Roaming\TRAE SOLO CN\ModularData\ai-agent\work-mode-projects\6a4c72e802e1a77e70838fdb\assets\code_window_comparison_900x495.png">    </p:cNvPr>
          <p:cNvPicPr>
            <a:picLocks noChangeAspect="1"/>
          </p:cNvPicPr>
          <p:nvPr/>
        </p:nvPicPr>
        <p:blipFill>
          <a:blip r:embed="rId1"/>
          <a:srcRect l="0" r="0" t="-20707" b="-20707"/>
          <a:stretch/>
        </p:blipFill>
        <p:spPr>
          <a:xfrm>
            <a:off x="457200" y="1703070"/>
            <a:ext cx="41148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截取前1500字符  F1 = 0.60</a:t>
            </a:r>
            <a:endParaRPr lang="en-US" sz="1500" dirty="0"/>
          </a:p>
          <a:p>
            <a:pPr indent="0" marL="0">
              <a:buNone/>
            </a:pPr>
            <a:r>
              <a:rPr lang="en-US" sz="15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截取前3000字符  F1 = 0.42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2606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函数签名和变量声明是最关键的上下文——它们告诉你变量的类型、大小和来源。1500字符覆盖这些关键信息加前几个关键语句就够了。</a:t>
            </a:r>
            <a:endParaRPr lang="en-US" sz="1300" dirty="0"/>
          </a:p>
          <a:p>
            <a:pPr indent="0" marL="0">
              <a:buNone/>
            </a:pPr>
            <a:r>
              <a:rPr lang="en-US" sz="13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3000字符引入不相关代码形成噪声。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静态决策层在杀死性能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914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关键参数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no_sink="safe"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30样本全部被拦截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三把锁同时锁死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LLM零次运行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关闭拦截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单次LLM+完整代码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50" kern="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F1从0直接跳到0.67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V1-V3低分不是LLM能力不足，而是静态层根本没让LLM上场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BigVul 30样本 V1 评测结果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BigVul 30样本详细评测报告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spc="25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V4：三级Agent + 工具感知链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118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在失败中重建的最终架构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 工具感知链：整体管道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工具聚合层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CodeSlicer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35808" y="2587752"/>
            <a:ext cx="228600" cy="22860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2D3A7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LLM推理层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9659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6060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32461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70448" y="2587752"/>
            <a:ext cx="228600" cy="228600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3C4D9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后处理层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9659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冲突仲裁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6060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置信度校准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2461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架构演进：从 V3 到 V4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工具聚合：三个静态分析工具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0960749904389626e+119" dist="2.0480374952194813e+119" dir="9.948326387433001e+140">
              <a:srgbClr val="000000">
                <a:alpha val="1.4999999999999998e+14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CodeSlicer (自研)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基于tree-sitter AST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优势: 零依赖/毫秒级/源码定位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盲区: 不做跨函数/不追踪指针别名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2020152378574823e+123" dist="2.6010076189287412e+123" dir="5.9689958324598e+145">
              <a:srgbClr val="000000">
                <a:alpha val="1.4999999999999998e+149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(GitHub)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企业级CFG/DFG污点追踪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优势: 跨函数漏洞检测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盲区: 需合法语法/截断代码兼容差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606559352079002e+127" dist="3.303279676039501e+127" dir="3.58139749947588e+150">
              <a:srgbClr val="000000">
                <a:alpha val="1.4999999999999998e+154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YAML规则AST模式匹配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优势: 极快/规则可定制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盲区: 浅层匹配/无语义推理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共识分析与盲区识别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高信号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2+工具在同一区域共识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中信号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单工具发现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无信号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所有工具沉默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32004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29200" y="1965960"/>
            <a:ext cx="2103120" cy="320040"/>
          </a:xfrm>
          <a:prstGeom prst="roundRect">
            <a:avLst>
              <a:gd name="adj" fmla="val 11429"/>
            </a:avLst>
          </a:prstGeom>
          <a:solidFill>
            <a:srgbClr val="3C4D94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0" y="2606040"/>
            <a:ext cx="731520" cy="320040"/>
          </a:xfrm>
          <a:prstGeom prst="roundRect">
            <a:avLst>
              <a:gd name="adj" fmla="val 11429"/>
            </a:avLst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盲区类型：逻辑缺陷、配置错误、TOCTOU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Agent1：只看报告不看代码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如果先看代码会形成预判，失去交叉验证意义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工具报告仅几百token，远小于代码本身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2344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390330377140333e+131" dist="4.195165188570166e+131" dir="2.148838499685528e+155">
              <a:srgbClr val="000000">
                <a:alpha val="1.4999999999999999e+159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307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initial_verdict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627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/ not suspicious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21031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655719578968222e+136" dist="5.327859789484111e+135" dir="1.2893030998113169e+160">
              <a:srgbClr val="000000">
                <a:alpha val="1.5e+164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0" y="21762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window_suggestion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496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/ medium / full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9718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532763865289643e+140" dist="6.766381932644821e+139" dir="7.735818598867901e+164">
              <a:srgbClr val="000000">
                <a:alpha val="1.5e+169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044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blind_spot_risk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遗漏的风险类型评估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核心分歧：有Sink vs 无Sink 两条路径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1234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00400" y="1234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Agent1 决策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1783080"/>
            <a:ext cx="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0" y="2331720"/>
            <a:ext cx="18288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33172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有Sink → confirm_it 激进验证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假设Sink可达，除非有硬证据</a:t>
            </a:r>
            <a:endParaRPr lang="en-US" sz="1100" dirty="0"/>
          </a:p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证明不可达。对清理措施做有罪推定。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783080"/>
            <a:ext cx="0" cy="54864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0" y="2331720"/>
            <a:ext cx="13716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0" y="233172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无Sink → checklist 六类审计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systematic六类专项扫描：</a:t>
            </a:r>
            <a:endParaRPr lang="en-US" sz="1100" dirty="0"/>
          </a:p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MEMORY/INTEGER/BOUNDARY/CONCURRENCY</a:t>
            </a:r>
            <a:endParaRPr lang="en-US" sz="1100" dirty="0"/>
          </a:p>
          <a:p>
            <a:pPr indent="0" marL="0">
              <a:buNone/>
            </a:pPr>
            <a:r>
              <a:rPr lang="en-US" sz="11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ERROR_PATHS/LOGIC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有Sink路径：confirm_it 激进验证策略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186610108917847e+144" dist="8.593305054458923e+143" dir="4.641491159320741e+169">
              <a:srgbClr val="000000">
                <a:alpha val="1.5e+174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假设Sink始终可达，除非有硬证据证明不可达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826994838325667e+148" dist="1.0913497419162833e+148" dir="2.7848946955924445e+174">
              <a:srgbClr val="000000">
                <a:alpha val="1.5e+179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240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对清理措施做有罪推定——sizeof对变长数据不提供保护，strncpy需检查空终止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7202834446736e+152" dist="1.38601417223368e+152" dir="1.6709368173554668e+179">
              <a:srgbClr val="000000">
                <a:alpha val="1.5e+184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315468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1546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只有证明漏洞不可能时才判safe——存在一种plausible利用路径即判漏洞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spc="5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安全审计中漏报代价远大于误报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无Sink路径：Checklist 六类专项审计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520475997473547e+156" dist="1.7602379987367734e+156" dir="1.00256209041328e+184">
              <a:srgbClr val="000000">
                <a:alpha val="1.5e+189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12801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 内存安全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UAF/双重释放/内存泄漏/悬垂指针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471004516791404e+160" dist="2.235502258395702e+160" dir="6.01537254247968e+188">
              <a:srgbClr val="000000">
                <a:alpha val="1.4999999999999998e+194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12801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 整数安全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溢出/截断/符号转换错误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678175736325083e+164" dist="2.8390878681625417e+164" dir="3.609223525487808e+193">
              <a:srgbClr val="000000">
                <a:alpha val="1.4999999999999998e+199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  边界安全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数组越界/off-by-one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211283185132856e+168" dist="3.605641592566428e+168" dir="2.165534115292685e+198">
              <a:srgbClr val="000000">
                <a:alpha val="1.5e+204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  并发安全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竞态条件/TOCTOU/死锁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158329645118728e+172" dist="4.579164822559364e+172" dir="1.299320469175611e+203">
              <a:srgbClr val="000000">
                <a:alpha val="1.5e+209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2834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PATHS  错误路径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空指针解引用/资源泄漏/返回值忽略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631078649300784e+177" dist="5.815539324650392e+176" dir="7.795922815053666e+207">
              <a:srgbClr val="000000">
                <a:alpha val="1.4999999999999998e+214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 逻辑缺陷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条件恒真恒假/分支缺失/索引越界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通用全扫prompt F1=0.62 → checklist六类专项审计 F1=0.74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六类审计明细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Agent3：盲区扫描器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触发条件：仅当Agent2判safe或uncertain时触发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触发率：0%~20%，主要集中在&gt;3000字符长函数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职责：只找漏洞不判安全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独立运行：不受Agent2结论影响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3C4D9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 判 safe/uncertain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1920240"/>
            <a:ext cx="274320" cy="22860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0" y="219456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 Agent3 独立扫描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697480"/>
            <a:ext cx="274320" cy="228600"/>
          </a:xfrm>
          <a:prstGeom prst="downArrow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0" y="29718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输出盲区发现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后处理层：三个零LLM成本模块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771469884611996e+181" dist="7.385734942305998e+180" dir="4.6775536890322e+212">
              <a:srgbClr val="000000">
                <a:alpha val="1.5e+219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冲突仲裁器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A2与A3结论不一致时触发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三条规则判决（A3焦点外发现→A3胜出）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8759766753457235e+185" dist="9.379883376728618e+184" dir="2.80653221341932e+217">
              <a:srgbClr val="000000">
                <a:alpha val="1.4999999999999999e+224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置信度校准器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纯规则引擎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共识加分/模糊措辞减分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382490377689069e+189" dist="1.1912451888445345e+189" dir="1.683919328051592e+222">
              <a:srgbClr val="000000">
                <a:alpha val="1.4999999999999997e+229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输出质量检查器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三种异常捕获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无理由判断/过度自信/方法标注不一致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spc="25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7175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消融实验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118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控制变量法，30样本，每次只改一个变量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消融实验结果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LLM调用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基线：单次LLM调用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三层Agent（完整）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关闭RAG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多温度投票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单次调用+静态拦截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50" kern="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spc="50" kern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Users\WZP\AppData\Roaming\TRAE SOLO CN\ModularData\ai-agent\work-mode-projects\6a4c72e802e1a77e70838fdb\assets\img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794760"/>
            <a:ext cx="64008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消融对比：PrimeVul 数据集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PrimeVul 数据集上，工具感知链相较基线 V1 有稳定提升</a:t>
            </a:r>
            <a:endParaRPr lang="en-US" sz="1400" dirty="0"/>
          </a:p>
        </p:txBody>
      </p:sp>
      <p:pic>
        <p:nvPicPr>
          <p:cNvPr id="4" name="Image 0" descr="C:\Users\WZP\AppData\Roaming\TRAE SOLO CN\ModularData\ai-agent\work-mode-projects\6a4c72e802e1a77e70838fdb\assets\img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消融对比：PrimeVul 30样本</a:t>
            </a:r>
            <a:endParaRPr lang="en-US" sz="2800" dirty="0"/>
          </a:p>
        </p:txBody>
      </p:sp>
      <p:pic>
        <p:nvPicPr>
          <p:cNvPr id="3" name="Image 0" descr="C:\Users\WZP\AppData\Roaming\TRAE SOLO CN\ModularData\ai-agent\work-mode-projects\6a4c72e802e1a77e70838fdb\assets\img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消融对比：BigVul 数据集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BigVul 数据集上，基线已较强，工具感知链提升有限</a:t>
            </a:r>
            <a:endParaRPr lang="en-US" sz="1400" dirty="0"/>
          </a:p>
        </p:txBody>
      </p:sp>
      <p:pic>
        <p:nvPicPr>
          <p:cNvPr id="4" name="Image 0" descr="C:\Users\WZP\AppData\Roaming\TRAE SOLO CN\ModularData\ai-agent\work-mode-projects\6a4c72e802e1a77e70838fdb\assets\img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消融对比：BigVul 详细对比</a:t>
            </a:r>
            <a:endParaRPr lang="en-US" sz="2800" dirty="0"/>
          </a:p>
        </p:txBody>
      </p:sp>
      <p:pic>
        <p:nvPicPr>
          <p:cNvPr id="3" name="Image 0" descr="C:\Users\WZP\AppData\Roaming\TRAE SOLO CN\ModularData\ai-agent\work-mode-projects\6a4c72e802e1a77e70838fdb\assets\img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消融对比：混淆矩阵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工具感知链在召回率上有明显提升，误报率有所上升</a:t>
            </a:r>
            <a:endParaRPr lang="en-US" sz="1400" dirty="0"/>
          </a:p>
        </p:txBody>
      </p:sp>
      <p:pic>
        <p:nvPicPr>
          <p:cNvPr id="4" name="Image 0" descr="C:\Users\WZP\AppData\Roaming\TRAE SOLO CN\ModularData\ai-agent\work-mode-projects\6a4c72e802e1a77e70838fdb\assets\img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消融实验详细对比</a:t>
            </a:r>
            <a:endParaRPr lang="en-US" sz="2600" dirty="0"/>
          </a:p>
        </p:txBody>
      </p:sp>
      <p:pic>
        <p:nvPicPr>
          <p:cNvPr id="3" name="Image 0" descr="C:\Users\WZP\AppData\Roaming\TRAE SOLO CN\ModularData\ai-agent\work-mode-projects\6a4c72e802e1a77e70838fdb\assets\img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消融结论 ①②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0257627796651175e+193" dist="1.5128813898325588e+193" dir="1.0103515968309552e+227">
              <a:srgbClr val="000000">
                <a:alpha val="1.4999999999999998e+23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零贡献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搭建完整RAG管线：bge-m3嵌入、ChromaDB向量库（NVD 25万条+CISA KEV 1647条）。关闭RAG后F1完全不变。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根源：CVE元数据不含代码模式，通用文本嵌入在代码和漏洞间匹配失败。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8427187301746993e+197" dist="1.9213593650873497e+197" dir="6.062109580985731e+231">
              <a:srgbClr val="000000">
                <a:alpha val="1.4999999999999997e+239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静态拦截是最大人为损害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82880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打开no_sink='safe'后F1从0.40降到0.13。28个样本仅调用1次LLM，其余27个被静态层拦截。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这不是性能差，是架构上把主角拦在了门外。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消融结论 ③④⑤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880252787321868e+201" dist="2.440126393660934e+201" dir="3.6372657485914388e+236">
              <a:srgbClr val="000000">
                <a:alpha val="1.4999999999999996e+24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多温度投票换不来提升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三温度加权投票F1持平，调用次数+1/3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197921039898773e+205" dist="3.0989605199493864e+205" dir="2.1823594491548633e+241">
              <a:srgbClr val="000000">
                <a:alpha val="1.4999999999999995e+249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单次LLM是强基线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完整代码+清晰prompt → F1=0.40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三层架构提升到0.62，代价约3倍token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871359720671441e+209" dist="3.9356798603357206e+209" dir="1.309415669492918e+246">
              <a:srgbClr val="000000">
                <a:alpha val="1.4999999999999995e+254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A3盲区扫描器架空A2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A2判安全→A3重新扫描找到遗漏→仲裁器推翻A2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局限性 ①②③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996626845252731e+213" dist="4.9983134226263654e+213" dir="7.856494016957508e+250">
              <a:srgbClr val="000000">
                <a:alpha val="1.4999999999999996e+259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RAG模块无实际贡献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当前bge-m3嵌入方案失败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需代码级嵌入(CodeBERT/UniXcoder)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695716093470969e+218" dist="6.347858046735484e+217" dir="4.713896410174505e+255">
              <a:srgbClr val="000000">
                <a:alpha val="1.4999999999999996e+264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数据流仅限单函数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不做跨过程分析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malloc在A函数/free在B函数/UAF在C函数完全看不到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12355943870813e+222" dist="8.061779719354066e+221" dir="2.828337846104703e+260">
              <a:srgbClr val="000000">
                <a:alpha val="1.4999999999999995e+269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Token消耗较高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完整代码在长函数上消耗大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动态窗口策略仅部分缓解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局限性 ④⑤⑥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0476920487159326e+226" dist="1.0238460243579663e+226" dir="1.6970027076628216e+265">
              <a:srgbClr val="000000">
                <a:alpha val="1.4999999999999994e+274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测试集标签噪声严重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BigVul噪声率约75%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F1=0.67可能已接近理论上限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005689018692344e+230" dist="1.3002844509346172e+230" dir="1.018201624597693e+270">
              <a:srgbClr val="000000">
                <a:alpha val="1.4999999999999994e+279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仅函数级评测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缺少项目级构建上下文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无跨文件调用关系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027225053739275e+234" dist="1.6513612526869638e+234" dir="6.109209747586158e+274">
              <a:srgbClr val="000000">
                <a:alpha val="1.4999999999999994e+284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数据集分布决定组件作用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PrimeVul 90.5%无sink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真正驱动提升的是checklist六类审计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4023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从盲目堆砌到模块化拆解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从静态拦截到完全放权LLM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从通用全扫到六类专项清单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76047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零样本条件下 F1 = 0.77，超过微调基线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基于大语言模型的应用安全审计技术</dc:title>
  <dc:subject>PptxGenJS Presentation</dc:subject>
  <dc:creator>PptxGenJS</dc:creator>
  <cp:lastModifiedBy>PptxGenJS</cp:lastModifiedBy>
  <cp:revision>1</cp:revision>
  <dcterms:created xsi:type="dcterms:W3CDTF">2026-07-22T04:13:08Z</dcterms:created>
  <dcterms:modified xsi:type="dcterms:W3CDTF">2026-07-22T04:13:08Z</dcterms:modified>
</cp:coreProperties>
</file>